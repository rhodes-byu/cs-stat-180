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102475" cy="9388475"/>
  <p:embeddedFontLst>
    <p:embeddedFont>
      <p:font typeface="Franklin Gothic" panose="020B0604020202020204" charset="0"/>
      <p:bold r:id="rId19"/>
    </p:embeddedFont>
    <p:embeddedFont>
      <p:font typeface="Gill Sans" panose="020B0604020202020204" charset="0"/>
      <p:regular r:id="rId20"/>
      <p:bold r:id="rId21"/>
    </p:embeddedFont>
    <p:embeddedFont>
      <p:font typeface="Libre Franklin"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n4wb84enPB6uEccf5uUNIEJg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7739" cy="471054"/>
          </a:xfrm>
          <a:prstGeom prst="rect">
            <a:avLst/>
          </a:prstGeom>
          <a:noFill/>
          <a:ln>
            <a:noFill/>
          </a:ln>
        </p:spPr>
        <p:txBody>
          <a:bodyPr spcFirstLastPara="1" wrap="square" lIns="94225" tIns="47100" rIns="94225" bIns="471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092" y="0"/>
            <a:ext cx="3077739" cy="471054"/>
          </a:xfrm>
          <a:prstGeom prst="rect">
            <a:avLst/>
          </a:prstGeom>
          <a:noFill/>
          <a:ln>
            <a:noFill/>
          </a:ln>
        </p:spPr>
        <p:txBody>
          <a:bodyPr spcFirstLastPara="1" wrap="square" lIns="94225" tIns="47100" rIns="94225" bIns="471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917422"/>
            <a:ext cx="3077739" cy="471053"/>
          </a:xfrm>
          <a:prstGeom prst="rect">
            <a:avLst/>
          </a:prstGeom>
          <a:noFill/>
          <a:ln>
            <a:noFill/>
          </a:ln>
        </p:spPr>
        <p:txBody>
          <a:bodyPr spcFirstLastPara="1" wrap="square" lIns="94225" tIns="47100" rIns="94225" bIns="471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spcBef>
                <a:spcPts val="0"/>
              </a:spcBef>
              <a:spcAft>
                <a:spcPts val="0"/>
              </a:spcAft>
              <a:buNone/>
            </a:pPr>
            <a:r>
              <a:rPr lang="en-US"/>
              <a:t>DALL-E Prompt: Data Scientists celebrate a generative ai Halloween</a:t>
            </a:r>
            <a:endParaRPr/>
          </a:p>
        </p:txBody>
      </p:sp>
      <p:sp>
        <p:nvSpPr>
          <p:cNvPr id="119" name="Google Shape;119;p1: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60" name="Google Shape;160;p8: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spcBef>
                <a:spcPts val="0"/>
              </a:spcBef>
              <a:spcAft>
                <a:spcPts val="0"/>
              </a:spcAft>
              <a:buNone/>
            </a:pPr>
            <a:r>
              <a:rPr lang="en-US"/>
              <a:t>I'd be happy to help you create a PowerPoint presentation on recent data privacy fines for major companies between 2019 and 2024. You can reference the table provided in the search results for the specific fine amounts and details. Here are some key points for your presentation:</a:t>
            </a:r>
            <a:endParaRPr/>
          </a:p>
          <a:p>
            <a:pPr marL="0" lvl="0" indent="0" algn="l" rtl="0">
              <a:spcBef>
                <a:spcPts val="0"/>
              </a:spcBef>
              <a:spcAft>
                <a:spcPts val="0"/>
              </a:spcAft>
              <a:buNone/>
            </a:pPr>
            <a:endParaRPr/>
          </a:p>
          <a:p>
            <a:pPr marL="0" lvl="0" indent="0" algn="l" rtl="0">
              <a:spcBef>
                <a:spcPts val="0"/>
              </a:spcBef>
              <a:spcAft>
                <a:spcPts val="0"/>
              </a:spcAft>
              <a:buNone/>
            </a:pPr>
            <a:r>
              <a:rPr lang="en-US"/>
              <a:t>Title Slide: "Major Data Privacy Fines 2019-2024"</a:t>
            </a:r>
            <a:endParaRPr/>
          </a:p>
          <a:p>
            <a:pPr marL="0" lvl="0" indent="0" algn="l" rtl="0">
              <a:spcBef>
                <a:spcPts val="0"/>
              </a:spcBef>
              <a:spcAft>
                <a:spcPts val="0"/>
              </a:spcAft>
              <a:buNone/>
            </a:pPr>
            <a:endParaRPr/>
          </a:p>
          <a:p>
            <a:pPr marL="0" lvl="0" indent="0" algn="l" rtl="0">
              <a:spcBef>
                <a:spcPts val="0"/>
              </a:spcBef>
              <a:spcAft>
                <a:spcPts val="0"/>
              </a:spcAft>
              <a:buNone/>
            </a:pPr>
            <a:r>
              <a:rPr lang="en-US"/>
              <a:t>Slide 1: Introduction</a:t>
            </a:r>
            <a:endParaRPr/>
          </a:p>
          <a:p>
            <a:pPr marL="0" lvl="0" indent="0" algn="l" rtl="0">
              <a:spcBef>
                <a:spcPts val="0"/>
              </a:spcBef>
              <a:spcAft>
                <a:spcPts val="0"/>
              </a:spcAft>
              <a:buNone/>
            </a:pPr>
            <a:r>
              <a:rPr lang="en-US"/>
              <a:t>- Brief overview of GDPR and data privacy regulations</a:t>
            </a:r>
            <a:endParaRPr/>
          </a:p>
          <a:p>
            <a:pPr marL="0" lvl="0" indent="0" algn="l" rtl="0">
              <a:spcBef>
                <a:spcPts val="0"/>
              </a:spcBef>
              <a:spcAft>
                <a:spcPts val="0"/>
              </a:spcAft>
              <a:buNone/>
            </a:pPr>
            <a:r>
              <a:rPr lang="en-US"/>
              <a:t>- Mention increasing focus on enforcement in recent years</a:t>
            </a:r>
            <a:endParaRPr/>
          </a:p>
          <a:p>
            <a:pPr marL="0" lvl="0" indent="0" algn="l" rtl="0">
              <a:spcBef>
                <a:spcPts val="0"/>
              </a:spcBef>
              <a:spcAft>
                <a:spcPts val="0"/>
              </a:spcAft>
              <a:buNone/>
            </a:pPr>
            <a:endParaRPr/>
          </a:p>
          <a:p>
            <a:pPr marL="0" lvl="0" indent="0" algn="l" rtl="0">
              <a:spcBef>
                <a:spcPts val="0"/>
              </a:spcBef>
              <a:spcAft>
                <a:spcPts val="0"/>
              </a:spcAft>
              <a:buNone/>
            </a:pPr>
            <a:r>
              <a:rPr lang="en-US"/>
              <a:t>Slide 2: Top Fines Overview</a:t>
            </a:r>
            <a:endParaRPr/>
          </a:p>
          <a:p>
            <a:pPr marL="0" lvl="0" indent="0" algn="l" rtl="0">
              <a:spcBef>
                <a:spcPts val="0"/>
              </a:spcBef>
              <a:spcAft>
                <a:spcPts val="0"/>
              </a:spcAft>
              <a:buNone/>
            </a:pPr>
            <a:r>
              <a:rPr lang="en-US"/>
              <a:t>- Highlight that Meta/Facebook companies received several of the largest fines</a:t>
            </a:r>
            <a:endParaRPr/>
          </a:p>
          <a:p>
            <a:pPr marL="0" lvl="0" indent="0" algn="l" rtl="0">
              <a:spcBef>
                <a:spcPts val="0"/>
              </a:spcBef>
              <a:spcAft>
                <a:spcPts val="0"/>
              </a:spcAft>
              <a:buNone/>
            </a:pPr>
            <a:r>
              <a:rPr lang="en-US"/>
              <a:t>- Note the record €1.2 billion fine to Meta in 2023</a:t>
            </a:r>
            <a:endParaRPr/>
          </a:p>
          <a:p>
            <a:pPr marL="0" lvl="0" indent="0" algn="l" rtl="0">
              <a:spcBef>
                <a:spcPts val="0"/>
              </a:spcBef>
              <a:spcAft>
                <a:spcPts val="0"/>
              </a:spcAft>
              <a:buNone/>
            </a:pPr>
            <a:endParaRPr/>
          </a:p>
          <a:p>
            <a:pPr marL="0" lvl="0" indent="0" algn="l" rtl="0">
              <a:spcBef>
                <a:spcPts val="0"/>
              </a:spcBef>
              <a:spcAft>
                <a:spcPts val="0"/>
              </a:spcAft>
              <a:buNone/>
            </a:pPr>
            <a:r>
              <a:rPr lang="en-US"/>
              <a:t>Slide 3-7: Individual Fine Details</a:t>
            </a:r>
            <a:endParaRPr/>
          </a:p>
          <a:p>
            <a:pPr marL="0" lvl="0" indent="0" algn="l" rtl="0">
              <a:spcBef>
                <a:spcPts val="0"/>
              </a:spcBef>
              <a:spcAft>
                <a:spcPts val="0"/>
              </a:spcAft>
              <a:buNone/>
            </a:pPr>
            <a:r>
              <a:rPr lang="en-US"/>
              <a:t>Create a slide for each of the top 5 fines, including:</a:t>
            </a:r>
            <a:endParaRPr/>
          </a:p>
          <a:p>
            <a:pPr marL="0" lvl="0" indent="0" algn="l" rtl="0">
              <a:spcBef>
                <a:spcPts val="0"/>
              </a:spcBef>
              <a:spcAft>
                <a:spcPts val="0"/>
              </a:spcAft>
              <a:buNone/>
            </a:pPr>
            <a:r>
              <a:rPr lang="en-US"/>
              <a:t>- Company name</a:t>
            </a:r>
            <a:endParaRPr/>
          </a:p>
          <a:p>
            <a:pPr marL="0" lvl="0" indent="0" algn="l" rtl="0">
              <a:spcBef>
                <a:spcPts val="0"/>
              </a:spcBef>
              <a:spcAft>
                <a:spcPts val="0"/>
              </a:spcAft>
              <a:buNone/>
            </a:pPr>
            <a:r>
              <a:rPr lang="en-US"/>
              <a:t>- Fine amount </a:t>
            </a:r>
            <a:endParaRPr/>
          </a:p>
          <a:p>
            <a:pPr marL="0" lvl="0" indent="0" algn="l" rtl="0">
              <a:spcBef>
                <a:spcPts val="0"/>
              </a:spcBef>
              <a:spcAft>
                <a:spcPts val="0"/>
              </a:spcAft>
              <a:buNone/>
            </a:pPr>
            <a:r>
              <a:rPr lang="en-US"/>
              <a:t>- Year issued</a:t>
            </a:r>
            <a:endParaRPr/>
          </a:p>
          <a:p>
            <a:pPr marL="0" lvl="0" indent="0" algn="l" rtl="0">
              <a:spcBef>
                <a:spcPts val="0"/>
              </a:spcBef>
              <a:spcAft>
                <a:spcPts val="0"/>
              </a:spcAft>
              <a:buNone/>
            </a:pPr>
            <a:r>
              <a:rPr lang="en-US"/>
              <a:t>- Brief description of the violation</a:t>
            </a:r>
            <a:endParaRPr/>
          </a:p>
          <a:p>
            <a:pPr marL="0" lvl="0" indent="0" algn="l" rtl="0">
              <a:spcBef>
                <a:spcPts val="0"/>
              </a:spcBef>
              <a:spcAft>
                <a:spcPts val="0"/>
              </a:spcAft>
              <a:buNone/>
            </a:pPr>
            <a:endParaRPr/>
          </a:p>
          <a:p>
            <a:pPr marL="0" lvl="0" indent="0" algn="l" rtl="0">
              <a:spcBef>
                <a:spcPts val="0"/>
              </a:spcBef>
              <a:spcAft>
                <a:spcPts val="0"/>
              </a:spcAft>
              <a:buNone/>
            </a:pPr>
            <a:r>
              <a:rPr lang="en-US"/>
              <a:t>Slide 8: Other Notable Fines</a:t>
            </a:r>
            <a:endParaRPr/>
          </a:p>
          <a:p>
            <a:pPr marL="0" lvl="0" indent="0" algn="l" rtl="0">
              <a:spcBef>
                <a:spcPts val="0"/>
              </a:spcBef>
              <a:spcAft>
                <a:spcPts val="0"/>
              </a:spcAft>
              <a:buNone/>
            </a:pPr>
            <a:r>
              <a:rPr lang="en-US"/>
              <a:t>- List 3-5 other significant fines from the period</a:t>
            </a:r>
            <a:endParaRPr/>
          </a:p>
          <a:p>
            <a:pPr marL="0" lvl="0" indent="0" algn="l" rtl="0">
              <a:spcBef>
                <a:spcPts val="0"/>
              </a:spcBef>
              <a:spcAft>
                <a:spcPts val="0"/>
              </a:spcAft>
              <a:buNone/>
            </a:pPr>
            <a:r>
              <a:rPr lang="en-US"/>
              <a:t>- Include company, amount, and year</a:t>
            </a:r>
            <a:endParaRPr/>
          </a:p>
          <a:p>
            <a:pPr marL="0" lvl="0" indent="0" algn="l" rtl="0">
              <a:spcBef>
                <a:spcPts val="0"/>
              </a:spcBef>
              <a:spcAft>
                <a:spcPts val="0"/>
              </a:spcAft>
              <a:buNone/>
            </a:pPr>
            <a:endParaRPr/>
          </a:p>
          <a:p>
            <a:pPr marL="0" lvl="0" indent="0" algn="l" rtl="0">
              <a:spcBef>
                <a:spcPts val="0"/>
              </a:spcBef>
              <a:spcAft>
                <a:spcPts val="0"/>
              </a:spcAft>
              <a:buNone/>
            </a:pPr>
            <a:r>
              <a:rPr lang="en-US"/>
              <a:t>Slide 9: Key Takeaways</a:t>
            </a:r>
            <a:endParaRPr/>
          </a:p>
          <a:p>
            <a:pPr marL="0" lvl="0" indent="0" algn="l" rtl="0">
              <a:spcBef>
                <a:spcPts val="0"/>
              </a:spcBef>
              <a:spcAft>
                <a:spcPts val="0"/>
              </a:spcAft>
              <a:buNone/>
            </a:pPr>
            <a:r>
              <a:rPr lang="en-US"/>
              <a:t>- Trend of increasing fine amounts</a:t>
            </a:r>
            <a:endParaRPr/>
          </a:p>
          <a:p>
            <a:pPr marL="0" lvl="0" indent="0" algn="l" rtl="0">
              <a:spcBef>
                <a:spcPts val="0"/>
              </a:spcBef>
              <a:spcAft>
                <a:spcPts val="0"/>
              </a:spcAft>
              <a:buNone/>
            </a:pPr>
            <a:r>
              <a:rPr lang="en-US"/>
              <a:t>- Focus on tech/social media companies</a:t>
            </a:r>
            <a:endParaRPr/>
          </a:p>
          <a:p>
            <a:pPr marL="0" lvl="0" indent="0" algn="l" rtl="0">
              <a:spcBef>
                <a:spcPts val="0"/>
              </a:spcBef>
              <a:spcAft>
                <a:spcPts val="0"/>
              </a:spcAft>
              <a:buNone/>
            </a:pPr>
            <a:r>
              <a:rPr lang="en-US"/>
              <a:t>- Importance of GDPR compliance</a:t>
            </a:r>
            <a:endParaRPr/>
          </a:p>
          <a:p>
            <a:pPr marL="0" lvl="0" indent="0" algn="l" rtl="0">
              <a:spcBef>
                <a:spcPts val="0"/>
              </a:spcBef>
              <a:spcAft>
                <a:spcPts val="0"/>
              </a:spcAft>
              <a:buNone/>
            </a:pPr>
            <a:endParaRPr/>
          </a:p>
          <a:p>
            <a:pPr marL="0" lvl="0" indent="0" algn="l" rtl="0">
              <a:spcBef>
                <a:spcPts val="0"/>
              </a:spcBef>
              <a:spcAft>
                <a:spcPts val="0"/>
              </a:spcAft>
              <a:buNone/>
            </a:pPr>
            <a:r>
              <a:rPr lang="en-US"/>
              <a:t>Slide 10: Conclusion</a:t>
            </a:r>
            <a:endParaRPr/>
          </a:p>
          <a:p>
            <a:pPr marL="0" lvl="0" indent="0" algn="l" rtl="0">
              <a:spcBef>
                <a:spcPts val="0"/>
              </a:spcBef>
              <a:spcAft>
                <a:spcPts val="0"/>
              </a:spcAft>
              <a:buNone/>
            </a:pPr>
            <a:r>
              <a:rPr lang="en-US"/>
              <a:t>- Recap of largest fines</a:t>
            </a:r>
            <a:endParaRPr/>
          </a:p>
          <a:p>
            <a:pPr marL="0" lvl="0" indent="0" algn="l" rtl="0">
              <a:spcBef>
                <a:spcPts val="0"/>
              </a:spcBef>
              <a:spcAft>
                <a:spcPts val="0"/>
              </a:spcAft>
              <a:buNone/>
            </a:pPr>
            <a:r>
              <a:rPr lang="en-US"/>
              <a:t>- Emphasis on continued regulatory scrutiny</a:t>
            </a:r>
            <a:endParaRPr/>
          </a:p>
          <a:p>
            <a:pPr marL="0" lvl="0" indent="0" algn="l" rtl="0">
              <a:spcBef>
                <a:spcPts val="0"/>
              </a:spcBef>
              <a:spcAft>
                <a:spcPts val="0"/>
              </a:spcAft>
              <a:buNone/>
            </a:pPr>
            <a:endParaRPr/>
          </a:p>
          <a:p>
            <a:pPr marL="0" lvl="0" indent="0" algn="l" rtl="0">
              <a:spcBef>
                <a:spcPts val="0"/>
              </a:spcBef>
              <a:spcAft>
                <a:spcPts val="0"/>
              </a:spcAft>
              <a:buNone/>
            </a:pPr>
            <a:r>
              <a:rPr lang="en-US"/>
              <a:t>Remember to use visuals like charts or icons to make the presentation engaging. You can reference the table in the search results for the specific fine amounts and details to populate your slides. Let me know if you need any clarification or additional assistance with the presentation content!</a:t>
            </a:r>
            <a:endParaRPr/>
          </a:p>
          <a:p>
            <a:pPr marL="0" lvl="0" indent="0" algn="l" rtl="0">
              <a:spcBef>
                <a:spcPts val="0"/>
              </a:spcBef>
              <a:spcAft>
                <a:spcPts val="0"/>
              </a:spcAft>
              <a:buNone/>
            </a:pPr>
            <a:endParaRPr/>
          </a:p>
          <a:p>
            <a:pPr marL="0" lvl="0" indent="0" algn="l" rtl="0">
              <a:spcBef>
                <a:spcPts val="0"/>
              </a:spcBef>
              <a:spcAft>
                <a:spcPts val="0"/>
              </a:spcAft>
              <a:buNone/>
            </a:pPr>
            <a:r>
              <a:rPr lang="en-US"/>
              <a:t>Citations:</a:t>
            </a:r>
            <a:endParaRPr/>
          </a:p>
          <a:p>
            <a:pPr marL="0" lvl="0" indent="0" algn="l" rtl="0">
              <a:spcBef>
                <a:spcPts val="0"/>
              </a:spcBef>
              <a:spcAft>
                <a:spcPts val="0"/>
              </a:spcAft>
              <a:buNone/>
            </a:pPr>
            <a:r>
              <a:rPr lang="en-US"/>
              <a:t>[1] https://www.bbc.com/news/articles/cvgl8lerx85o</a:t>
            </a:r>
            <a:endParaRPr/>
          </a:p>
          <a:p>
            <a:pPr marL="0" lvl="0" indent="0" algn="l" rtl="0">
              <a:spcBef>
                <a:spcPts val="0"/>
              </a:spcBef>
              <a:spcAft>
                <a:spcPts val="0"/>
              </a:spcAft>
              <a:buNone/>
            </a:pPr>
            <a:r>
              <a:rPr lang="en-US"/>
              <a:t>[2] https://www.statista.com/statistics/1133337/largest-fines-issued-gdpr/</a:t>
            </a:r>
            <a:endParaRPr/>
          </a:p>
          <a:p>
            <a:pPr marL="0" lvl="0" indent="0" algn="l" rtl="0">
              <a:spcBef>
                <a:spcPts val="0"/>
              </a:spcBef>
              <a:spcAft>
                <a:spcPts val="0"/>
              </a:spcAft>
              <a:buNone/>
            </a:pPr>
            <a:r>
              <a:rPr lang="en-US"/>
              <a:t>[3] https://nerdynav.com/biggest-gdpr-fines/</a:t>
            </a:r>
            <a:endParaRPr/>
          </a:p>
          <a:p>
            <a:pPr marL="0" lvl="0" indent="0" algn="l" rtl="0">
              <a:spcBef>
                <a:spcPts val="0"/>
              </a:spcBef>
              <a:spcAft>
                <a:spcPts val="0"/>
              </a:spcAft>
              <a:buNone/>
            </a:pPr>
            <a:r>
              <a:rPr lang="en-US"/>
              <a:t>[4] https://www.hipaajournal.com/hipaa-violation-cases/</a:t>
            </a:r>
            <a:endParaRPr/>
          </a:p>
          <a:p>
            <a:pPr marL="0" lvl="0" indent="0" algn="l" rtl="0">
              <a:spcBef>
                <a:spcPts val="0"/>
              </a:spcBef>
              <a:spcAft>
                <a:spcPts val="0"/>
              </a:spcAft>
              <a:buNone/>
            </a:pPr>
            <a:r>
              <a:rPr lang="en-US"/>
              <a:t>[5] https://dataprivacymanager.net/5-biggest-gdpr-fines-so-far-2020/</a:t>
            </a:r>
            <a:endParaRPr/>
          </a:p>
          <a:p>
            <a:pPr marL="0" lvl="0" indent="0" algn="l" rtl="0">
              <a:spcBef>
                <a:spcPts val="0"/>
              </a:spcBef>
              <a:spcAft>
                <a:spcPts val="0"/>
              </a:spcAft>
              <a:buNone/>
            </a:pPr>
            <a:r>
              <a:rPr lang="en-US"/>
              <a:t>[6] https://termly.io/resources/articles/biggest-gdpr-fines/</a:t>
            </a:r>
            <a:endParaRPr/>
          </a:p>
          <a:p>
            <a:pPr marL="0" lvl="0" indent="0" algn="l" rtl="0">
              <a:spcBef>
                <a:spcPts val="0"/>
              </a:spcBef>
              <a:spcAft>
                <a:spcPts val="0"/>
              </a:spcAft>
              <a:buNone/>
            </a:pPr>
            <a:r>
              <a:rPr lang="en-US"/>
              <a:t>[7] https://www.enzuzo.com/blog/biggest-gdpr-fines</a:t>
            </a:r>
            <a:endParaRPr/>
          </a:p>
          <a:p>
            <a:pPr marL="0" lvl="0" indent="0" algn="l" rtl="0">
              <a:spcBef>
                <a:spcPts val="0"/>
              </a:spcBef>
              <a:spcAft>
                <a:spcPts val="0"/>
              </a:spcAft>
              <a:buNone/>
            </a:pPr>
            <a:r>
              <a:rPr lang="en-US"/>
              <a:t>[8] https://www.skillcast.com/blog/biggest-gdpr-fines-2024</a:t>
            </a:r>
            <a:endParaRPr/>
          </a:p>
          <a:p>
            <a:pPr marL="0" lvl="0" indent="0" algn="l" rtl="0">
              <a:spcBef>
                <a:spcPts val="0"/>
              </a:spcBef>
              <a:spcAft>
                <a:spcPts val="0"/>
              </a:spcAft>
              <a:buNone/>
            </a:pPr>
            <a:r>
              <a:rPr lang="en-US"/>
              <a:t>[9] https://www.skillcast.com/blog/20-biggest-gdpr-fines</a:t>
            </a:r>
            <a:endParaRPr/>
          </a:p>
          <a:p>
            <a:pPr marL="0" lvl="0" indent="0" algn="l" rtl="0">
              <a:spcBef>
                <a:spcPts val="0"/>
              </a:spcBef>
              <a:spcAft>
                <a:spcPts val="0"/>
              </a:spcAft>
              <a:buNone/>
            </a:pPr>
            <a:r>
              <a:rPr lang="en-US"/>
              <a:t>[10] https://fortune.com/europe/2023/05/22/facebook-meta-1-3-billion-privacy-fine-eu-gdpr-max-schrems/</a:t>
            </a:r>
            <a:endParaRPr/>
          </a:p>
          <a:p>
            <a:pPr marL="0" lvl="0" indent="0" algn="l" rtl="0">
              <a:spcBef>
                <a:spcPts val="0"/>
              </a:spcBef>
              <a:spcAft>
                <a:spcPts val="0"/>
              </a:spcAft>
              <a:buNone/>
            </a:pPr>
            <a:r>
              <a:rPr lang="en-US"/>
              <a:t>[11] https://www.edpb.europa.eu/news/news/2023/12-billion-euro-fine-facebook-result-edpb-binding-decision_en</a:t>
            </a:r>
            <a:endParaRPr/>
          </a:p>
          <a:p>
            <a:pPr marL="0" lvl="0" indent="0" algn="l" rtl="0">
              <a:spcBef>
                <a:spcPts val="0"/>
              </a:spcBef>
              <a:spcAft>
                <a:spcPts val="0"/>
              </a:spcAft>
              <a:buNone/>
            </a:pPr>
            <a:r>
              <a:rPr lang="en-US"/>
              <a:t>[12] https://www.zdnet.com/article/amazon-fined-887-million-for-gdpr-privacy-violations/</a:t>
            </a:r>
            <a:endParaRPr/>
          </a:p>
          <a:p>
            <a:pPr marL="0" lvl="0" indent="0" algn="l" rtl="0">
              <a:spcBef>
                <a:spcPts val="0"/>
              </a:spcBef>
              <a:spcAft>
                <a:spcPts val="0"/>
              </a:spcAft>
              <a:buNone/>
            </a:pPr>
            <a:r>
              <a:rPr lang="en-US"/>
              <a:t>[13] https://thehackernews.com/2023/01/whatsapp-hit-with-55-million-fine-for.html</a:t>
            </a:r>
            <a:endParaRPr/>
          </a:p>
          <a:p>
            <a:pPr marL="0" lvl="0" indent="0" algn="l" rtl="0">
              <a:spcBef>
                <a:spcPts val="0"/>
              </a:spcBef>
              <a:spcAft>
                <a:spcPts val="0"/>
              </a:spcAft>
              <a:buNone/>
            </a:pPr>
            <a:r>
              <a:rPr lang="en-US"/>
              <a:t>[14] https://www.insideprivacy.com/eu-data-protection/google-fined-e50-million-in-france-for-gdpr-violation/</a:t>
            </a:r>
            <a:endParaRPr/>
          </a:p>
          <a:p>
            <a:pPr marL="0" lvl="0" indent="0" algn="l" rtl="0">
              <a:spcBef>
                <a:spcPts val="0"/>
              </a:spcBef>
              <a:spcAft>
                <a:spcPts val="0"/>
              </a:spcAft>
              <a:buNone/>
            </a:pPr>
            <a:r>
              <a:rPr lang="en-US"/>
              <a:t>[15] https://www.bbc.com/news/technology-54418936</a:t>
            </a:r>
            <a:endParaRPr/>
          </a:p>
          <a:p>
            <a:pPr marL="0" lvl="0" indent="0" algn="l" rtl="0">
              <a:spcBef>
                <a:spcPts val="0"/>
              </a:spcBef>
              <a:spcAft>
                <a:spcPts val="0"/>
              </a:spcAft>
              <a:buNone/>
            </a:pPr>
            <a:r>
              <a:rPr lang="en-US"/>
              <a:t>[16] https://dataprivacymanager.net/e278-million-gdpr-fine-for-italian-telecom-tim/</a:t>
            </a:r>
            <a:endParaRPr/>
          </a:p>
          <a:p>
            <a:pPr marL="0" lvl="0" indent="0" algn="l" rtl="0">
              <a:spcBef>
                <a:spcPts val="0"/>
              </a:spcBef>
              <a:spcAft>
                <a:spcPts val="0"/>
              </a:spcAft>
              <a:buNone/>
            </a:pPr>
            <a:r>
              <a:rPr lang="en-US"/>
              <a:t>[17] https://www.grip.globalrelay.com/italys-garante-fines-enel-energia-over-e79m-for-data-privacy-violations-in-telemarketing/</a:t>
            </a:r>
            <a:endParaRPr/>
          </a:p>
          <a:p>
            <a:pPr marL="0" lvl="0" indent="0" algn="l" rtl="0">
              <a:spcBef>
                <a:spcPts val="0"/>
              </a:spcBef>
              <a:spcAft>
                <a:spcPts val="0"/>
              </a:spcAft>
              <a:buNone/>
            </a:pPr>
            <a:r>
              <a:rPr lang="en-US"/>
              <a:t>[18] https://cms.law/en/int/publication/gdpr-enforcement-tracker-report/italy</a:t>
            </a:r>
            <a:endParaRPr/>
          </a:p>
          <a:p>
            <a:pPr marL="0" lvl="0" indent="0" algn="l" rtl="0">
              <a:spcBef>
                <a:spcPts val="0"/>
              </a:spcBef>
              <a:spcAft>
                <a:spcPts val="0"/>
              </a:spcAft>
              <a:buNone/>
            </a:pPr>
            <a:r>
              <a:rPr lang="en-US"/>
              <a:t>[19] https://www.wolframalpha.com/input?input=%2416.5+million+to+euros+conversion</a:t>
            </a:r>
            <a:endParaRPr/>
          </a:p>
          <a:p>
            <a:pPr marL="0" lvl="0" indent="0" algn="l" rtl="0">
              <a:spcBef>
                <a:spcPts val="0"/>
              </a:spcBef>
              <a:spcAft>
                <a:spcPts val="0"/>
              </a:spcAft>
              <a:buNone/>
            </a:pPr>
            <a:r>
              <a:rPr lang="en-US"/>
              <a:t>[20] https://edition.cnn.com/2024/02/22/tech/ftc-avast-cybersecurity-company-fine/index.html</a:t>
            </a:r>
            <a:endParaRPr/>
          </a:p>
          <a:p>
            <a:pPr marL="0" lvl="0" indent="0" algn="l" rtl="0">
              <a:spcBef>
                <a:spcPts val="0"/>
              </a:spcBef>
              <a:spcAft>
                <a:spcPts val="0"/>
              </a:spcAft>
              <a:buNone/>
            </a:pPr>
            <a:r>
              <a:rPr lang="en-US"/>
              <a:t>[21] https://www.pcmag.com/news/ftc-bans-antivirus-provider-avast-from-selling-users-browsing-data</a:t>
            </a:r>
            <a:endParaRPr/>
          </a:p>
          <a:p>
            <a:pPr marL="0" lvl="0" indent="0" algn="l" rtl="0">
              <a:spcBef>
                <a:spcPts val="0"/>
              </a:spcBef>
              <a:spcAft>
                <a:spcPts val="0"/>
              </a:spcAft>
              <a:buNone/>
            </a:pPr>
            <a:r>
              <a:rPr lang="en-US"/>
              <a:t>[22] https://thehackernews.com/2023/09/tiktok-faces-massive-345-million-fine.html</a:t>
            </a:r>
            <a:endParaRPr/>
          </a:p>
        </p:txBody>
      </p:sp>
      <p:sp>
        <p:nvSpPr>
          <p:cNvPr id="168" name="Google Shape;168;p9: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82" name="Google Shape;182;p11: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89" name="Google Shape;189;p12: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196" name="Google Shape;196;p13: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03" name="Google Shape;203;p14: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5: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171450" lvl="0" indent="-171450" algn="l" rtl="0">
              <a:spcBef>
                <a:spcPts val="0"/>
              </a:spcBef>
              <a:spcAft>
                <a:spcPts val="0"/>
              </a:spcAft>
              <a:buClr>
                <a:schemeClr val="dk1"/>
              </a:buClr>
              <a:buSzPts val="1200"/>
              <a:buFont typeface="Arial"/>
              <a:buChar char="•"/>
            </a:pPr>
            <a:r>
              <a:rPr lang="en-US"/>
              <a:t>Why neural net pioneer Geoffrey Hinton is sounding the alarm on AI: https://mitsloan.mit.edu/ideas-made-to-matter/why-neural-net-pioneer-geoffrey-hinton-sounding-alarm-ai</a:t>
            </a:r>
            <a:endParaRPr/>
          </a:p>
          <a:p>
            <a:pPr marL="171450" marR="0" lvl="0" indent="-171450" algn="l" rtl="0">
              <a:lnSpc>
                <a:spcPct val="100000"/>
              </a:lnSpc>
              <a:spcBef>
                <a:spcPts val="0"/>
              </a:spcBef>
              <a:spcAft>
                <a:spcPts val="0"/>
              </a:spcAft>
              <a:buClr>
                <a:srgbClr val="222222"/>
              </a:buClr>
              <a:buSzPts val="1200"/>
              <a:buFont typeface="Arial"/>
              <a:buChar char="•"/>
            </a:pPr>
            <a:r>
              <a:rPr lang="en-US" b="1">
                <a:solidFill>
                  <a:srgbClr val="222222"/>
                </a:solidFill>
                <a:latin typeface="Arial"/>
                <a:ea typeface="Arial"/>
                <a:cs typeface="Arial"/>
                <a:sym typeface="Arial"/>
              </a:rPr>
              <a:t>Geoffrey Hinton warns of AI’s growing danger after Nobel Prize win https://www.independent.co.uk/news/science/nobel-prize-university-of-toronto-british-nobel-prize-in-physics-google-b2626208.html</a:t>
            </a:r>
            <a:endParaRPr/>
          </a:p>
          <a:p>
            <a:pPr marL="171450" marR="0" lvl="0" indent="-95250" algn="l" rtl="0">
              <a:lnSpc>
                <a:spcPct val="100000"/>
              </a:lnSpc>
              <a:spcBef>
                <a:spcPts val="0"/>
              </a:spcBef>
              <a:spcAft>
                <a:spcPts val="0"/>
              </a:spcAft>
              <a:buClr>
                <a:schemeClr val="dk1"/>
              </a:buClr>
              <a:buSzPts val="1200"/>
              <a:buFont typeface="Arial"/>
              <a:buNone/>
            </a:pPr>
            <a:endParaRPr b="1">
              <a:solidFill>
                <a:srgbClr val="222222"/>
              </a:solidFill>
              <a:latin typeface="Arial"/>
              <a:ea typeface="Arial"/>
              <a:cs typeface="Arial"/>
              <a:sym typeface="Arial"/>
            </a:endParaRPr>
          </a:p>
          <a:p>
            <a:pPr marL="0" lvl="0" indent="0" algn="l" rtl="0">
              <a:spcBef>
                <a:spcPts val="0"/>
              </a:spcBef>
              <a:spcAft>
                <a:spcPts val="0"/>
              </a:spcAft>
              <a:buNone/>
            </a:pPr>
            <a:endParaRPr/>
          </a:p>
        </p:txBody>
      </p:sp>
      <p:sp>
        <p:nvSpPr>
          <p:cNvPr id="211" name="Google Shape;211;p15: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18" name="Google Shape;218;p16: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25" name="Google Shape;225;p17: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8: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32" name="Google Shape;232;p18: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23"/>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3"/>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6"/>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body" idx="1"/>
          </p:nvPr>
        </p:nvSpPr>
        <p:spPr>
          <a:xfrm>
            <a:off x="581192" y="1451113"/>
            <a:ext cx="11029615" cy="452423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7" name="Google Shape;27;p26"/>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6"/>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6"/>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581192" y="1451113"/>
            <a:ext cx="11029615" cy="452423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3" name="Google Shape;43;p24"/>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4"/>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body" idx="1"/>
          </p:nvPr>
        </p:nvSpPr>
        <p:spPr>
          <a:xfrm>
            <a:off x="581193" y="2228003"/>
            <a:ext cx="5194767"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9" name="Google Shape;49;p25"/>
          <p:cNvSpPr txBox="1">
            <a:spLocks noGrp="1"/>
          </p:cNvSpPr>
          <p:nvPr>
            <p:ph type="body" idx="2"/>
          </p:nvPr>
        </p:nvSpPr>
        <p:spPr>
          <a:xfrm>
            <a:off x="6416039" y="2228003"/>
            <a:ext cx="5194769"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0" name="Google Shape;50;p25"/>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5"/>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27"/>
          <p:cNvSpPr/>
          <p:nvPr/>
        </p:nvSpPr>
        <p:spPr>
          <a:xfrm>
            <a:off x="446534" y="3085764"/>
            <a:ext cx="11298932" cy="3338149"/>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7"/>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57" name="Google Shape;57;p27"/>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7"/>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28"/>
          <p:cNvSpPr/>
          <p:nvPr/>
        </p:nvSpPr>
        <p:spPr>
          <a:xfrm>
            <a:off x="447817" y="5141974"/>
            <a:ext cx="11290860" cy="1258827"/>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8"/>
          <p:cNvSpPr txBox="1">
            <a:spLocks noGrp="1"/>
          </p:cNvSpPr>
          <p:nvPr>
            <p:ph type="title"/>
          </p:nvPr>
        </p:nvSpPr>
        <p:spPr>
          <a:xfrm>
            <a:off x="581193" y="2393950"/>
            <a:ext cx="11029615" cy="214746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3600"/>
              <a:buFont typeface="Franklin Gothic"/>
              <a:buNone/>
              <a:defRPr sz="3600" b="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60"/>
              </a:spcBef>
              <a:spcAft>
                <a:spcPts val="0"/>
              </a:spcAft>
              <a:buSzPts val="1656"/>
              <a:buNone/>
              <a:defRPr sz="1800" cap="none">
                <a:solidFill>
                  <a:schemeClr val="accent1"/>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64" name="Google Shape;64;p28"/>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8"/>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7"/>
        <p:cNvGrpSpPr/>
        <p:nvPr/>
      </p:nvGrpSpPr>
      <p:grpSpPr>
        <a:xfrm>
          <a:off x="0" y="0"/>
          <a:ext cx="0" cy="0"/>
          <a:chOff x="0" y="0"/>
          <a:chExt cx="0" cy="0"/>
        </a:xfrm>
      </p:grpSpPr>
      <p:sp>
        <p:nvSpPr>
          <p:cNvPr id="68" name="Google Shape;68;p29"/>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9"/>
          <p:cNvSpPr txBox="1">
            <a:spLocks noGrp="1"/>
          </p:cNvSpPr>
          <p:nvPr>
            <p:ph type="body" idx="1"/>
          </p:nvPr>
        </p:nvSpPr>
        <p:spPr>
          <a:xfrm>
            <a:off x="581191" y="2250891"/>
            <a:ext cx="5194769" cy="557784"/>
          </a:xfrm>
          <a:prstGeom prst="rect">
            <a:avLst/>
          </a:prstGeom>
          <a:noFill/>
          <a:ln>
            <a:noFill/>
          </a:ln>
        </p:spPr>
        <p:txBody>
          <a:bodyPr spcFirstLastPara="1" wrap="square" lIns="91425" tIns="45700" rIns="91425" bIns="45700" anchor="ctr" anchorCtr="0">
            <a:noAutofit/>
          </a:bodyPr>
          <a:lstStyle>
            <a:lvl1pPr marL="457200" lvl="0" indent="-228600" algn="l">
              <a:lnSpc>
                <a:spcPct val="110000"/>
              </a:lnSpc>
              <a:spcBef>
                <a:spcPts val="400"/>
              </a:spcBef>
              <a:spcAft>
                <a:spcPts val="0"/>
              </a:spcAft>
              <a:buSzPts val="1840"/>
              <a:buNone/>
              <a:defRPr sz="2000" b="0">
                <a:solidFill>
                  <a:srgbClr val="3F3F3F"/>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70" name="Google Shape;70;p29"/>
          <p:cNvSpPr txBox="1">
            <a:spLocks noGrp="1"/>
          </p:cNvSpPr>
          <p:nvPr>
            <p:ph type="body" idx="2"/>
          </p:nvPr>
        </p:nvSpPr>
        <p:spPr>
          <a:xfrm>
            <a:off x="581194" y="2926052"/>
            <a:ext cx="5194766"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71" name="Google Shape;71;p29"/>
          <p:cNvSpPr txBox="1">
            <a:spLocks noGrp="1"/>
          </p:cNvSpPr>
          <p:nvPr>
            <p:ph type="body" idx="3"/>
          </p:nvPr>
        </p:nvSpPr>
        <p:spPr>
          <a:xfrm>
            <a:off x="6416039" y="2250892"/>
            <a:ext cx="5194770" cy="553373"/>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400"/>
              </a:spcBef>
              <a:spcAft>
                <a:spcPts val="0"/>
              </a:spcAft>
              <a:buClr>
                <a:schemeClr val="accent1"/>
              </a:buClr>
              <a:buSzPts val="1840"/>
              <a:buFont typeface="Noto Sans Symbols"/>
              <a:buNone/>
              <a:defRPr sz="2000" b="0">
                <a:solidFill>
                  <a:srgbClr val="3F3F3F"/>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72" name="Google Shape;72;p29"/>
          <p:cNvSpPr txBox="1">
            <a:spLocks noGrp="1"/>
          </p:cNvSpPr>
          <p:nvPr>
            <p:ph type="body" idx="4"/>
          </p:nvPr>
        </p:nvSpPr>
        <p:spPr>
          <a:xfrm>
            <a:off x="6416037" y="2926052"/>
            <a:ext cx="5194771"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73" name="Google Shape;73;p29"/>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9"/>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9"/>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2"/>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1"/>
        <p:cNvGrpSpPr/>
        <p:nvPr/>
      </p:nvGrpSpPr>
      <p:grpSpPr>
        <a:xfrm>
          <a:off x="0" y="0"/>
          <a:ext cx="0" cy="0"/>
          <a:chOff x="0" y="0"/>
          <a:chExt cx="0" cy="0"/>
        </a:xfrm>
      </p:grpSpPr>
      <p:sp>
        <p:nvSpPr>
          <p:cNvPr id="82" name="Google Shape;82;p30"/>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0"/>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5"/>
        <p:cNvGrpSpPr/>
        <p:nvPr/>
      </p:nvGrpSpPr>
      <p:grpSpPr>
        <a:xfrm>
          <a:off x="0" y="0"/>
          <a:ext cx="0" cy="0"/>
          <a:chOff x="0" y="0"/>
          <a:chExt cx="0" cy="0"/>
        </a:xfrm>
      </p:grpSpPr>
      <p:sp>
        <p:nvSpPr>
          <p:cNvPr id="86" name="Google Shape;86;p31"/>
          <p:cNvSpPr/>
          <p:nvPr/>
        </p:nvSpPr>
        <p:spPr>
          <a:xfrm>
            <a:off x="447817" y="601200"/>
            <a:ext cx="3682723" cy="5815475"/>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1"/>
          <p:cNvSpPr txBox="1">
            <a:spLocks noGrp="1"/>
          </p:cNvSpPr>
          <p:nvPr>
            <p:ph type="title"/>
          </p:nvPr>
        </p:nvSpPr>
        <p:spPr>
          <a:xfrm>
            <a:off x="767857" y="933450"/>
            <a:ext cx="3031852" cy="1722419"/>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FFFFF"/>
              </a:buClr>
              <a:buSzPts val="2400"/>
              <a:buFont typeface="Franklin Gothic"/>
              <a:buNone/>
              <a:defRPr sz="2400" b="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1"/>
          <p:cNvSpPr txBox="1">
            <a:spLocks noGrp="1"/>
          </p:cNvSpPr>
          <p:nvPr>
            <p:ph type="body" idx="1"/>
          </p:nvPr>
        </p:nvSpPr>
        <p:spPr>
          <a:xfrm>
            <a:off x="4900928" y="1179829"/>
            <a:ext cx="6650991" cy="4658216"/>
          </a:xfrm>
          <a:prstGeom prst="rect">
            <a:avLst/>
          </a:prstGeom>
          <a:noFill/>
          <a:ln>
            <a:noFill/>
          </a:ln>
        </p:spPr>
        <p:txBody>
          <a:bodyPr spcFirstLastPara="1" wrap="square" lIns="91425" tIns="45700" rIns="91425" bIns="45700" anchor="ctr" anchorCtr="0">
            <a:normAutofit/>
          </a:bodyPr>
          <a:lstStyle>
            <a:lvl1pPr marL="457200" lvl="0" indent="-345440" algn="l">
              <a:lnSpc>
                <a:spcPct val="110000"/>
              </a:lnSpc>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89" name="Google Shape;89;p31"/>
          <p:cNvSpPr txBox="1">
            <a:spLocks noGrp="1"/>
          </p:cNvSpPr>
          <p:nvPr>
            <p:ph type="body" idx="2"/>
          </p:nvPr>
        </p:nvSpPr>
        <p:spPr>
          <a:xfrm>
            <a:off x="767857" y="2836654"/>
            <a:ext cx="3031852" cy="300139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20"/>
              </a:spcBef>
              <a:spcAft>
                <a:spcPts val="0"/>
              </a:spcAft>
              <a:buSzPts val="1472"/>
              <a:buNone/>
              <a:defRPr sz="1600">
                <a:solidFill>
                  <a:srgbClr val="FFFFFF"/>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90" name="Google Shape;90;p31"/>
          <p:cNvSpPr txBox="1">
            <a:spLocks noGrp="1"/>
          </p:cNvSpPr>
          <p:nvPr>
            <p:ph type="dt" idx="10"/>
          </p:nvPr>
        </p:nvSpPr>
        <p:spPr>
          <a:xfrm>
            <a:off x="7605951" y="6456916"/>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1"/>
          <p:cNvSpPr txBox="1">
            <a:spLocks noGrp="1"/>
          </p:cNvSpPr>
          <p:nvPr>
            <p:ph type="ftr" idx="11"/>
          </p:nvPr>
        </p:nvSpPr>
        <p:spPr>
          <a:xfrm>
            <a:off x="581192" y="6452590"/>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1"/>
          <p:cNvSpPr txBox="1">
            <a:spLocks noGrp="1"/>
          </p:cNvSpPr>
          <p:nvPr>
            <p:ph type="sldNum" idx="12"/>
          </p:nvPr>
        </p:nvSpPr>
        <p:spPr>
          <a:xfrm>
            <a:off x="10558300" y="6456916"/>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3"/>
        <p:cNvGrpSpPr/>
        <p:nvPr/>
      </p:nvGrpSpPr>
      <p:grpSpPr>
        <a:xfrm>
          <a:off x="0" y="0"/>
          <a:ext cx="0" cy="0"/>
          <a:chOff x="0" y="0"/>
          <a:chExt cx="0" cy="0"/>
        </a:xfrm>
      </p:grpSpPr>
      <p:sp>
        <p:nvSpPr>
          <p:cNvPr id="94" name="Google Shape;94;p32"/>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2400"/>
              <a:buFont typeface="Franklin Gothic"/>
              <a:buNone/>
              <a:defRPr sz="2400" b="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2"/>
          <p:cNvSpPr>
            <a:spLocks noGrp="1"/>
          </p:cNvSpPr>
          <p:nvPr>
            <p:ph type="pic" idx="2"/>
          </p:nvPr>
        </p:nvSpPr>
        <p:spPr>
          <a:xfrm>
            <a:off x="447817" y="641350"/>
            <a:ext cx="11290859" cy="3651249"/>
          </a:xfrm>
          <a:prstGeom prst="rect">
            <a:avLst/>
          </a:prstGeom>
          <a:noFill/>
          <a:ln>
            <a:noFill/>
          </a:ln>
        </p:spPr>
      </p:sp>
      <p:sp>
        <p:nvSpPr>
          <p:cNvPr id="96" name="Google Shape;96;p32"/>
          <p:cNvSpPr txBox="1">
            <a:spLocks noGrp="1"/>
          </p:cNvSpPr>
          <p:nvPr>
            <p:ph type="body" idx="1"/>
          </p:nvPr>
        </p:nvSpPr>
        <p:spPr>
          <a:xfrm>
            <a:off x="581192" y="5260127"/>
            <a:ext cx="11029617" cy="99814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20"/>
              </a:spcBef>
              <a:spcAft>
                <a:spcPts val="0"/>
              </a:spcAft>
              <a:buSzPts val="1472"/>
              <a:buNone/>
              <a:defRPr sz="16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97" name="Google Shape;97;p32"/>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32"/>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32"/>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
        <p:cNvGrpSpPr/>
        <p:nvPr/>
      </p:nvGrpSpPr>
      <p:grpSpPr>
        <a:xfrm>
          <a:off x="0" y="0"/>
          <a:ext cx="0" cy="0"/>
          <a:chOff x="0" y="0"/>
          <a:chExt cx="0" cy="0"/>
        </a:xfrm>
      </p:grpSpPr>
      <p:sp>
        <p:nvSpPr>
          <p:cNvPr id="101" name="Google Shape;101;p3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3"/>
          <p:cNvSpPr txBox="1">
            <a:spLocks noGrp="1"/>
          </p:cNvSpPr>
          <p:nvPr>
            <p:ph type="body" idx="1"/>
          </p:nvPr>
        </p:nvSpPr>
        <p:spPr>
          <a:xfrm rot="5400000">
            <a:off x="4269977" y="-1352782"/>
            <a:ext cx="3652047" cy="11029616"/>
          </a:xfrm>
          <a:prstGeom prst="rect">
            <a:avLst/>
          </a:prstGeom>
          <a:noFill/>
          <a:ln>
            <a:noFill/>
          </a:ln>
        </p:spPr>
        <p:txBody>
          <a:bodyPr spcFirstLastPara="1" wrap="square" lIns="91425" tIns="45700" rIns="91425" bIns="45700" anchor="t" anchorCtr="0">
            <a:normAutofit/>
          </a:bodyPr>
          <a:lstStyle>
            <a:lvl1pPr marL="457200" lvl="0" indent="-327914" algn="l">
              <a:lnSpc>
                <a:spcPct val="110000"/>
              </a:lnSpc>
              <a:spcBef>
                <a:spcPts val="340"/>
              </a:spcBef>
              <a:spcAft>
                <a:spcPts val="0"/>
              </a:spcAft>
              <a:buSzPts val="1564"/>
              <a:buChar char="◼"/>
              <a:defRPr/>
            </a:lvl1pPr>
            <a:lvl2pPr marL="914400" lvl="1" indent="-310387" algn="l">
              <a:spcBef>
                <a:spcPts val="600"/>
              </a:spcBef>
              <a:spcAft>
                <a:spcPts val="0"/>
              </a:spcAft>
              <a:buSzPts val="1288"/>
              <a:buChar char="◼"/>
              <a:defRPr/>
            </a:lvl2pPr>
            <a:lvl3pPr marL="1371600" lvl="2" indent="-304546" algn="l">
              <a:spcBef>
                <a:spcPts val="600"/>
              </a:spcBef>
              <a:spcAft>
                <a:spcPts val="0"/>
              </a:spcAft>
              <a:buSzPts val="1196"/>
              <a:buChar char="◼"/>
              <a:defRPr/>
            </a:lvl3pPr>
            <a:lvl4pPr marL="1828800" lvl="3" indent="-292861" algn="l">
              <a:spcBef>
                <a:spcPts val="600"/>
              </a:spcBef>
              <a:spcAft>
                <a:spcPts val="0"/>
              </a:spcAft>
              <a:buSzPts val="1012"/>
              <a:buChar char="◼"/>
              <a:defRPr/>
            </a:lvl4pPr>
            <a:lvl5pPr marL="2286000" lvl="4" indent="-292861" algn="l">
              <a:spcBef>
                <a:spcPts val="600"/>
              </a:spcBef>
              <a:spcAft>
                <a:spcPts val="0"/>
              </a:spcAft>
              <a:buSzPts val="1012"/>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103" name="Google Shape;103;p33"/>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33"/>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33"/>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6"/>
        <p:cNvGrpSpPr/>
        <p:nvPr/>
      </p:nvGrpSpPr>
      <p:grpSpPr>
        <a:xfrm>
          <a:off x="0" y="0"/>
          <a:ext cx="0" cy="0"/>
          <a:chOff x="0" y="0"/>
          <a:chExt cx="0" cy="0"/>
        </a:xfrm>
      </p:grpSpPr>
      <p:sp>
        <p:nvSpPr>
          <p:cNvPr id="107" name="Google Shape;107;p34"/>
          <p:cNvSpPr/>
          <p:nvPr/>
        </p:nvSpPr>
        <p:spPr>
          <a:xfrm>
            <a:off x="8058151" y="599725"/>
            <a:ext cx="3687316" cy="581695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4"/>
          <p:cNvSpPr txBox="1">
            <a:spLocks noGrp="1"/>
          </p:cNvSpPr>
          <p:nvPr>
            <p:ph type="title"/>
          </p:nvPr>
        </p:nvSpPr>
        <p:spPr>
          <a:xfrm rot="5400000">
            <a:off x="7362637" y="1705163"/>
            <a:ext cx="4807326" cy="31242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34"/>
          <p:cNvSpPr txBox="1">
            <a:spLocks noGrp="1"/>
          </p:cNvSpPr>
          <p:nvPr>
            <p:ph type="body" idx="1"/>
          </p:nvPr>
        </p:nvSpPr>
        <p:spPr>
          <a:xfrm rot="5400000">
            <a:off x="1952072" y="-313549"/>
            <a:ext cx="4807326" cy="7161625"/>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110" name="Google Shape;110;p34"/>
          <p:cNvSpPr/>
          <p:nvPr/>
        </p:nvSpPr>
        <p:spPr>
          <a:xfrm>
            <a:off x="446534" y="457200"/>
            <a:ext cx="3703320" cy="94997"/>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4"/>
          <p:cNvSpPr/>
          <p:nvPr/>
        </p:nvSpPr>
        <p:spPr>
          <a:xfrm>
            <a:off x="8042147" y="453643"/>
            <a:ext cx="3703320" cy="98554"/>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4"/>
          <p:cNvSpPr/>
          <p:nvPr/>
        </p:nvSpPr>
        <p:spPr>
          <a:xfrm>
            <a:off x="4241830" y="457200"/>
            <a:ext cx="3703320" cy="914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4"/>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34"/>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34"/>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FEFEFE"/>
              </a:buClr>
              <a:buSzPts val="2800"/>
              <a:buFont typeface="Franklin Gothic"/>
              <a:buNone/>
              <a:defRPr sz="2800" b="0" i="0" u="none" strike="noStrike" cap="none">
                <a:solidFill>
                  <a:srgbClr val="FEFEFE"/>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1" name="Google Shape;11;p21"/>
          <p:cNvSpPr txBox="1">
            <a:spLocks noGrp="1"/>
          </p:cNvSpPr>
          <p:nvPr>
            <p:ph type="body" idx="1"/>
          </p:nvPr>
        </p:nvSpPr>
        <p:spPr>
          <a:xfrm>
            <a:off x="581192" y="2336002"/>
            <a:ext cx="11029616" cy="3652047"/>
          </a:xfrm>
          <a:prstGeom prst="rect">
            <a:avLst/>
          </a:prstGeom>
          <a:noFill/>
          <a:ln>
            <a:noFill/>
          </a:ln>
        </p:spPr>
        <p:txBody>
          <a:bodyPr spcFirstLastPara="1" wrap="square" lIns="91425" tIns="45700" rIns="91425" bIns="45700" anchor="ctr" anchorCtr="0">
            <a:normAutofit/>
          </a:bodyPr>
          <a:lstStyle>
            <a:lvl1pPr marL="457200" marR="0" lvl="0" indent="-327914" algn="l" rtl="0">
              <a:lnSpc>
                <a:spcPct val="110000"/>
              </a:lnSpc>
              <a:spcBef>
                <a:spcPts val="340"/>
              </a:spcBef>
              <a:spcAft>
                <a:spcPts val="0"/>
              </a:spcAft>
              <a:buClr>
                <a:schemeClr val="accent1"/>
              </a:buClr>
              <a:buSzPts val="1564"/>
              <a:buFont typeface="Noto Sans Symbols"/>
              <a:buChar char="◼"/>
              <a:defRPr sz="1700" b="0" i="0" u="none" strike="noStrike" cap="none">
                <a:solidFill>
                  <a:srgbClr val="FEFEFE"/>
                </a:solidFill>
                <a:latin typeface="Libre Franklin"/>
                <a:ea typeface="Libre Franklin"/>
                <a:cs typeface="Libre Franklin"/>
                <a:sym typeface="Libre Franklin"/>
              </a:defRPr>
            </a:lvl1pPr>
            <a:lvl2pPr marL="914400" marR="0" lvl="1" indent="-310387" algn="l" rtl="0">
              <a:spcBef>
                <a:spcPts val="600"/>
              </a:spcBef>
              <a:spcAft>
                <a:spcPts val="0"/>
              </a:spcAft>
              <a:buClr>
                <a:schemeClr val="accent1"/>
              </a:buClr>
              <a:buSzPts val="1288"/>
              <a:buFont typeface="Noto Sans Symbols"/>
              <a:buChar char="◼"/>
              <a:defRPr sz="1400" b="0" i="0" u="none" strike="noStrike" cap="none">
                <a:solidFill>
                  <a:srgbClr val="FEFEFE"/>
                </a:solidFill>
                <a:latin typeface="Libre Franklin"/>
                <a:ea typeface="Libre Franklin"/>
                <a:cs typeface="Libre Franklin"/>
                <a:sym typeface="Libre Franklin"/>
              </a:defRPr>
            </a:lvl2pPr>
            <a:lvl3pPr marL="1371600" marR="0" lvl="2" indent="-304546" algn="l" rtl="0">
              <a:spcBef>
                <a:spcPts val="600"/>
              </a:spcBef>
              <a:spcAft>
                <a:spcPts val="0"/>
              </a:spcAft>
              <a:buClr>
                <a:schemeClr val="accent1"/>
              </a:buClr>
              <a:buSzPts val="1196"/>
              <a:buFont typeface="Noto Sans Symbols"/>
              <a:buChar char="◼"/>
              <a:defRPr sz="1300" b="0" i="0" u="none" strike="noStrike" cap="none">
                <a:solidFill>
                  <a:srgbClr val="FEFEFE"/>
                </a:solidFill>
                <a:latin typeface="Libre Franklin"/>
                <a:ea typeface="Libre Franklin"/>
                <a:cs typeface="Libre Franklin"/>
                <a:sym typeface="Libre Franklin"/>
              </a:defRPr>
            </a:lvl3pPr>
            <a:lvl4pPr marL="1828800" marR="0" lvl="3" indent="-292861" algn="l" rtl="0">
              <a:spcBef>
                <a:spcPts val="600"/>
              </a:spcBef>
              <a:spcAft>
                <a:spcPts val="0"/>
              </a:spcAft>
              <a:buClr>
                <a:schemeClr val="accent1"/>
              </a:buClr>
              <a:buSzPts val="1012"/>
              <a:buFont typeface="Noto Sans Symbols"/>
              <a:buChar char="◼"/>
              <a:defRPr sz="1100" b="0" i="0" u="none" strike="noStrike" cap="none">
                <a:solidFill>
                  <a:srgbClr val="FEFEFE"/>
                </a:solidFill>
                <a:latin typeface="Libre Franklin"/>
                <a:ea typeface="Libre Franklin"/>
                <a:cs typeface="Libre Franklin"/>
                <a:sym typeface="Libre Franklin"/>
              </a:defRPr>
            </a:lvl4pPr>
            <a:lvl5pPr marL="2286000" marR="0" lvl="4" indent="-292861" algn="l" rtl="0">
              <a:spcBef>
                <a:spcPts val="600"/>
              </a:spcBef>
              <a:spcAft>
                <a:spcPts val="0"/>
              </a:spcAft>
              <a:buClr>
                <a:schemeClr val="accent1"/>
              </a:buClr>
              <a:buSzPts val="1012"/>
              <a:buFont typeface="Noto Sans Symbols"/>
              <a:buChar char="◼"/>
              <a:defRPr sz="1100" b="0" i="0" u="none" strike="noStrike" cap="none">
                <a:solidFill>
                  <a:srgbClr val="FEFEFE"/>
                </a:solidFill>
                <a:latin typeface="Libre Franklin"/>
                <a:ea typeface="Libre Franklin"/>
                <a:cs typeface="Libre Franklin"/>
                <a:sym typeface="Libre Franklin"/>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lt2"/>
                </a:solidFill>
                <a:latin typeface="Libre Franklin"/>
                <a:ea typeface="Libre Franklin"/>
                <a:cs typeface="Libre Franklin"/>
                <a:sym typeface="Libre Franklin"/>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lt2"/>
                </a:solidFill>
                <a:latin typeface="Libre Franklin"/>
                <a:ea typeface="Libre Franklin"/>
                <a:cs typeface="Libre Franklin"/>
                <a:sym typeface="Libre Franklin"/>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lt2"/>
                </a:solidFill>
                <a:latin typeface="Libre Franklin"/>
                <a:ea typeface="Libre Franklin"/>
                <a:cs typeface="Libre Franklin"/>
                <a:sym typeface="Libre Franklin"/>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lt2"/>
                </a:solidFill>
                <a:latin typeface="Libre Franklin"/>
                <a:ea typeface="Libre Franklin"/>
                <a:cs typeface="Libre Franklin"/>
                <a:sym typeface="Libre Franklin"/>
              </a:defRPr>
            </a:lvl9pPr>
          </a:lstStyle>
          <a:p>
            <a:endParaRPr/>
          </a:p>
        </p:txBody>
      </p:sp>
      <p:sp>
        <p:nvSpPr>
          <p:cNvPr id="12" name="Google Shape;12;p21"/>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FEFEFE"/>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3" name="Google Shape;13;p21"/>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EFEFE"/>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4" name="Google Shape;14;p21"/>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FEFEFE"/>
                </a:solidFill>
                <a:latin typeface="Libre Franklin"/>
                <a:ea typeface="Libre Franklin"/>
                <a:cs typeface="Libre Franklin"/>
                <a:sym typeface="Libre Franklin"/>
              </a:defRPr>
            </a:lvl1pPr>
            <a:lvl2pPr marL="0" marR="0" lvl="1" indent="0" algn="r" rtl="0">
              <a:spcBef>
                <a:spcPts val="0"/>
              </a:spcBef>
              <a:buNone/>
              <a:defRPr sz="900" b="0" i="0" u="none" strike="noStrike" cap="none">
                <a:solidFill>
                  <a:srgbClr val="FEFEFE"/>
                </a:solidFill>
                <a:latin typeface="Libre Franklin"/>
                <a:ea typeface="Libre Franklin"/>
                <a:cs typeface="Libre Franklin"/>
                <a:sym typeface="Libre Franklin"/>
              </a:defRPr>
            </a:lvl2pPr>
            <a:lvl3pPr marL="0" marR="0" lvl="2" indent="0" algn="r" rtl="0">
              <a:spcBef>
                <a:spcPts val="0"/>
              </a:spcBef>
              <a:buNone/>
              <a:defRPr sz="900" b="0" i="0" u="none" strike="noStrike" cap="none">
                <a:solidFill>
                  <a:srgbClr val="FEFEFE"/>
                </a:solidFill>
                <a:latin typeface="Libre Franklin"/>
                <a:ea typeface="Libre Franklin"/>
                <a:cs typeface="Libre Franklin"/>
                <a:sym typeface="Libre Franklin"/>
              </a:defRPr>
            </a:lvl3pPr>
            <a:lvl4pPr marL="0" marR="0" lvl="3" indent="0" algn="r" rtl="0">
              <a:spcBef>
                <a:spcPts val="0"/>
              </a:spcBef>
              <a:buNone/>
              <a:defRPr sz="900" b="0" i="0" u="none" strike="noStrike" cap="none">
                <a:solidFill>
                  <a:srgbClr val="FEFEFE"/>
                </a:solidFill>
                <a:latin typeface="Libre Franklin"/>
                <a:ea typeface="Libre Franklin"/>
                <a:cs typeface="Libre Franklin"/>
                <a:sym typeface="Libre Franklin"/>
              </a:defRPr>
            </a:lvl4pPr>
            <a:lvl5pPr marL="0" marR="0" lvl="4" indent="0" algn="r" rtl="0">
              <a:spcBef>
                <a:spcPts val="0"/>
              </a:spcBef>
              <a:buNone/>
              <a:defRPr sz="900" b="0" i="0" u="none" strike="noStrike" cap="none">
                <a:solidFill>
                  <a:srgbClr val="FEFEFE"/>
                </a:solidFill>
                <a:latin typeface="Libre Franklin"/>
                <a:ea typeface="Libre Franklin"/>
                <a:cs typeface="Libre Franklin"/>
                <a:sym typeface="Libre Franklin"/>
              </a:defRPr>
            </a:lvl5pPr>
            <a:lvl6pPr marL="0" marR="0" lvl="5" indent="0" algn="r" rtl="0">
              <a:spcBef>
                <a:spcPts val="0"/>
              </a:spcBef>
              <a:buNone/>
              <a:defRPr sz="900" b="0" i="0" u="none" strike="noStrike" cap="none">
                <a:solidFill>
                  <a:srgbClr val="FEFEFE"/>
                </a:solidFill>
                <a:latin typeface="Libre Franklin"/>
                <a:ea typeface="Libre Franklin"/>
                <a:cs typeface="Libre Franklin"/>
                <a:sym typeface="Libre Franklin"/>
              </a:defRPr>
            </a:lvl6pPr>
            <a:lvl7pPr marL="0" marR="0" lvl="6" indent="0" algn="r" rtl="0">
              <a:spcBef>
                <a:spcPts val="0"/>
              </a:spcBef>
              <a:buNone/>
              <a:defRPr sz="900" b="0" i="0" u="none" strike="noStrike" cap="none">
                <a:solidFill>
                  <a:srgbClr val="FEFEFE"/>
                </a:solidFill>
                <a:latin typeface="Libre Franklin"/>
                <a:ea typeface="Libre Franklin"/>
                <a:cs typeface="Libre Franklin"/>
                <a:sym typeface="Libre Franklin"/>
              </a:defRPr>
            </a:lvl7pPr>
            <a:lvl8pPr marL="0" marR="0" lvl="7" indent="0" algn="r" rtl="0">
              <a:spcBef>
                <a:spcPts val="0"/>
              </a:spcBef>
              <a:buNone/>
              <a:defRPr sz="900" b="0" i="0" u="none" strike="noStrike" cap="none">
                <a:solidFill>
                  <a:srgbClr val="FEFEFE"/>
                </a:solidFill>
                <a:latin typeface="Libre Franklin"/>
                <a:ea typeface="Libre Franklin"/>
                <a:cs typeface="Libre Franklin"/>
                <a:sym typeface="Libre Franklin"/>
              </a:defRPr>
            </a:lvl8pPr>
            <a:lvl9pPr marL="0" marR="0" lvl="8" indent="0" algn="r" rtl="0">
              <a:spcBef>
                <a:spcPts val="0"/>
              </a:spcBef>
              <a:buNone/>
              <a:defRPr sz="900" b="0" i="0" u="none" strike="noStrike" cap="none">
                <a:solidFill>
                  <a:srgbClr val="FEFEFE"/>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1"/>
          <p:cNvSpPr/>
          <p:nvPr/>
        </p:nvSpPr>
        <p:spPr>
          <a:xfrm>
            <a:off x="446534" y="457200"/>
            <a:ext cx="3703320" cy="94997"/>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1"/>
          <p:cNvSpPr/>
          <p:nvPr/>
        </p:nvSpPr>
        <p:spPr>
          <a:xfrm>
            <a:off x="8042147" y="453643"/>
            <a:ext cx="3703320" cy="98554"/>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1"/>
          <p:cNvSpPr/>
          <p:nvPr/>
        </p:nvSpPr>
        <p:spPr>
          <a:xfrm>
            <a:off x="4241830" y="457200"/>
            <a:ext cx="3703320" cy="914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1"/>
          <p:cNvPicPr preferRelativeResize="0"/>
          <p:nvPr/>
        </p:nvPicPr>
        <p:blipFill rotWithShape="1">
          <a:blip r:embed="rId4">
            <a:alphaModFix/>
          </a:blip>
          <a:srcRect/>
          <a:stretch/>
        </p:blipFill>
        <p:spPr>
          <a:xfrm>
            <a:off x="10473306" y="5930473"/>
            <a:ext cx="1354843" cy="539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3F3F3F"/>
              </a:buClr>
              <a:buSzPts val="2800"/>
              <a:buFont typeface="Franklin Gothic"/>
              <a:buNone/>
              <a:defRPr sz="2800" b="0" i="0" u="none" strike="noStrike" cap="none">
                <a:solidFill>
                  <a:srgbClr val="3F3F3F"/>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2" name="Google Shape;32;p20"/>
          <p:cNvSpPr txBox="1">
            <a:spLocks noGrp="1"/>
          </p:cNvSpPr>
          <p:nvPr>
            <p:ph type="body" idx="1"/>
          </p:nvPr>
        </p:nvSpPr>
        <p:spPr>
          <a:xfrm>
            <a:off x="581192" y="2336002"/>
            <a:ext cx="11029616" cy="3652047"/>
          </a:xfrm>
          <a:prstGeom prst="rect">
            <a:avLst/>
          </a:prstGeom>
          <a:noFill/>
          <a:ln>
            <a:noFill/>
          </a:ln>
        </p:spPr>
        <p:txBody>
          <a:bodyPr spcFirstLastPara="1" wrap="square" lIns="91425" tIns="45700" rIns="91425" bIns="45700" anchor="ctr" anchorCtr="0">
            <a:normAutofit/>
          </a:bodyPr>
          <a:lstStyle>
            <a:lvl1pPr marL="457200" marR="0" lvl="0" indent="-327914" algn="l" rtl="0">
              <a:lnSpc>
                <a:spcPct val="110000"/>
              </a:lnSpc>
              <a:spcBef>
                <a:spcPts val="340"/>
              </a:spcBef>
              <a:spcAft>
                <a:spcPts val="0"/>
              </a:spcAft>
              <a:buClr>
                <a:schemeClr val="accent1"/>
              </a:buClr>
              <a:buSzPts val="1564"/>
              <a:buFont typeface="Noto Sans Symbols"/>
              <a:buChar char="◼"/>
              <a:defRPr sz="1700" b="0" i="0" u="none" strike="noStrike" cap="none">
                <a:solidFill>
                  <a:srgbClr val="3F3F3F"/>
                </a:solidFill>
                <a:latin typeface="Libre Franklin"/>
                <a:ea typeface="Libre Franklin"/>
                <a:cs typeface="Libre Franklin"/>
                <a:sym typeface="Libre Franklin"/>
              </a:defRPr>
            </a:lvl1pPr>
            <a:lvl2pPr marL="914400" marR="0" lvl="1" indent="-310387" algn="l" rtl="0">
              <a:spcBef>
                <a:spcPts val="600"/>
              </a:spcBef>
              <a:spcAft>
                <a:spcPts val="0"/>
              </a:spcAft>
              <a:buClr>
                <a:schemeClr val="accent1"/>
              </a:buClr>
              <a:buSzPts val="1288"/>
              <a:buFont typeface="Noto Sans Symbols"/>
              <a:buChar char="◼"/>
              <a:defRPr sz="1400" b="0" i="0" u="none" strike="noStrike" cap="none">
                <a:solidFill>
                  <a:srgbClr val="3F3F3F"/>
                </a:solidFill>
                <a:latin typeface="Libre Franklin"/>
                <a:ea typeface="Libre Franklin"/>
                <a:cs typeface="Libre Franklin"/>
                <a:sym typeface="Libre Franklin"/>
              </a:defRPr>
            </a:lvl2pPr>
            <a:lvl3pPr marL="1371600" marR="0" lvl="2" indent="-304546" algn="l" rtl="0">
              <a:spcBef>
                <a:spcPts val="600"/>
              </a:spcBef>
              <a:spcAft>
                <a:spcPts val="0"/>
              </a:spcAft>
              <a:buClr>
                <a:schemeClr val="accent1"/>
              </a:buClr>
              <a:buSzPts val="1196"/>
              <a:buFont typeface="Noto Sans Symbols"/>
              <a:buChar char="◼"/>
              <a:defRPr sz="1300" b="0" i="0" u="none" strike="noStrike" cap="none">
                <a:solidFill>
                  <a:srgbClr val="3F3F3F"/>
                </a:solidFill>
                <a:latin typeface="Libre Franklin"/>
                <a:ea typeface="Libre Franklin"/>
                <a:cs typeface="Libre Franklin"/>
                <a:sym typeface="Libre Franklin"/>
              </a:defRPr>
            </a:lvl3pPr>
            <a:lvl4pPr marL="1828800" marR="0" lvl="3"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4pPr>
            <a:lvl5pPr marL="2286000" marR="0" lvl="4"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9pPr>
          </a:lstStyle>
          <a:p>
            <a:endParaRPr/>
          </a:p>
        </p:txBody>
      </p:sp>
      <p:sp>
        <p:nvSpPr>
          <p:cNvPr id="33" name="Google Shape;33;p20"/>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3F3F3F"/>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34" name="Google Shape;34;p20"/>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cap="none">
                <a:solidFill>
                  <a:srgbClr val="3F3F3F"/>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35" name="Google Shape;35;p20"/>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u="none">
                <a:solidFill>
                  <a:srgbClr val="3F3F3F"/>
                </a:solidFill>
                <a:latin typeface="Libre Franklin"/>
                <a:ea typeface="Libre Franklin"/>
                <a:cs typeface="Libre Franklin"/>
                <a:sym typeface="Libre Franklin"/>
              </a:defRPr>
            </a:lvl1pPr>
            <a:lvl2pPr marL="0" marR="0" lvl="1" indent="0" algn="r" rtl="0">
              <a:spcBef>
                <a:spcPts val="0"/>
              </a:spcBef>
              <a:buNone/>
              <a:defRPr sz="900" b="0" u="none">
                <a:solidFill>
                  <a:srgbClr val="3F3F3F"/>
                </a:solidFill>
                <a:latin typeface="Libre Franklin"/>
                <a:ea typeface="Libre Franklin"/>
                <a:cs typeface="Libre Franklin"/>
                <a:sym typeface="Libre Franklin"/>
              </a:defRPr>
            </a:lvl2pPr>
            <a:lvl3pPr marL="0" marR="0" lvl="2" indent="0" algn="r" rtl="0">
              <a:spcBef>
                <a:spcPts val="0"/>
              </a:spcBef>
              <a:buNone/>
              <a:defRPr sz="900" b="0" u="none">
                <a:solidFill>
                  <a:srgbClr val="3F3F3F"/>
                </a:solidFill>
                <a:latin typeface="Libre Franklin"/>
                <a:ea typeface="Libre Franklin"/>
                <a:cs typeface="Libre Franklin"/>
                <a:sym typeface="Libre Franklin"/>
              </a:defRPr>
            </a:lvl3pPr>
            <a:lvl4pPr marL="0" marR="0" lvl="3" indent="0" algn="r" rtl="0">
              <a:spcBef>
                <a:spcPts val="0"/>
              </a:spcBef>
              <a:buNone/>
              <a:defRPr sz="900" b="0" u="none">
                <a:solidFill>
                  <a:srgbClr val="3F3F3F"/>
                </a:solidFill>
                <a:latin typeface="Libre Franklin"/>
                <a:ea typeface="Libre Franklin"/>
                <a:cs typeface="Libre Franklin"/>
                <a:sym typeface="Libre Franklin"/>
              </a:defRPr>
            </a:lvl4pPr>
            <a:lvl5pPr marL="0" marR="0" lvl="4" indent="0" algn="r" rtl="0">
              <a:spcBef>
                <a:spcPts val="0"/>
              </a:spcBef>
              <a:buNone/>
              <a:defRPr sz="900" b="0" u="none">
                <a:solidFill>
                  <a:srgbClr val="3F3F3F"/>
                </a:solidFill>
                <a:latin typeface="Libre Franklin"/>
                <a:ea typeface="Libre Franklin"/>
                <a:cs typeface="Libre Franklin"/>
                <a:sym typeface="Libre Franklin"/>
              </a:defRPr>
            </a:lvl5pPr>
            <a:lvl6pPr marL="0" marR="0" lvl="5" indent="0" algn="r" rtl="0">
              <a:spcBef>
                <a:spcPts val="0"/>
              </a:spcBef>
              <a:buNone/>
              <a:defRPr sz="900" b="0" u="none">
                <a:solidFill>
                  <a:srgbClr val="3F3F3F"/>
                </a:solidFill>
                <a:latin typeface="Libre Franklin"/>
                <a:ea typeface="Libre Franklin"/>
                <a:cs typeface="Libre Franklin"/>
                <a:sym typeface="Libre Franklin"/>
              </a:defRPr>
            </a:lvl6pPr>
            <a:lvl7pPr marL="0" marR="0" lvl="6" indent="0" algn="r" rtl="0">
              <a:spcBef>
                <a:spcPts val="0"/>
              </a:spcBef>
              <a:buNone/>
              <a:defRPr sz="900" b="0" u="none">
                <a:solidFill>
                  <a:srgbClr val="3F3F3F"/>
                </a:solidFill>
                <a:latin typeface="Libre Franklin"/>
                <a:ea typeface="Libre Franklin"/>
                <a:cs typeface="Libre Franklin"/>
                <a:sym typeface="Libre Franklin"/>
              </a:defRPr>
            </a:lvl7pPr>
            <a:lvl8pPr marL="0" marR="0" lvl="7" indent="0" algn="r" rtl="0">
              <a:spcBef>
                <a:spcPts val="0"/>
              </a:spcBef>
              <a:buNone/>
              <a:defRPr sz="900" b="0" u="none">
                <a:solidFill>
                  <a:srgbClr val="3F3F3F"/>
                </a:solidFill>
                <a:latin typeface="Libre Franklin"/>
                <a:ea typeface="Libre Franklin"/>
                <a:cs typeface="Libre Franklin"/>
                <a:sym typeface="Libre Franklin"/>
              </a:defRPr>
            </a:lvl8pPr>
            <a:lvl9pPr marL="0" marR="0" lvl="8" indent="0" algn="r" rtl="0">
              <a:spcBef>
                <a:spcPts val="0"/>
              </a:spcBef>
              <a:buNone/>
              <a:defRPr sz="900" b="0" u="none">
                <a:solidFill>
                  <a:srgbClr val="3F3F3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20"/>
          <p:cNvSpPr/>
          <p:nvPr/>
        </p:nvSpPr>
        <p:spPr>
          <a:xfrm>
            <a:off x="446534" y="457200"/>
            <a:ext cx="3703320" cy="94997"/>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0"/>
          <p:cNvSpPr/>
          <p:nvPr/>
        </p:nvSpPr>
        <p:spPr>
          <a:xfrm>
            <a:off x="8042147" y="453643"/>
            <a:ext cx="3703320" cy="98554"/>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0"/>
          <p:cNvSpPr/>
          <p:nvPr/>
        </p:nvSpPr>
        <p:spPr>
          <a:xfrm>
            <a:off x="4241830" y="457200"/>
            <a:ext cx="3703320" cy="914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 name="Google Shape;39;p20"/>
          <p:cNvPicPr preferRelativeResize="0"/>
          <p:nvPr/>
        </p:nvPicPr>
        <p:blipFill rotWithShape="1">
          <a:blip r:embed="rId13">
            <a:alphaModFix/>
          </a:blip>
          <a:srcRect/>
          <a:stretch/>
        </p:blipFill>
        <p:spPr>
          <a:xfrm>
            <a:off x="10473306" y="5930473"/>
            <a:ext cx="1354843" cy="539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0"/>
        <p:cNvGrpSpPr/>
        <p:nvPr/>
      </p:nvGrpSpPr>
      <p:grpSpPr>
        <a:xfrm>
          <a:off x="0" y="0"/>
          <a:ext cx="0" cy="0"/>
          <a:chOff x="0" y="0"/>
          <a:chExt cx="0" cy="0"/>
        </a:xfrm>
      </p:grpSpPr>
      <p:sp>
        <p:nvSpPr>
          <p:cNvPr id="121" name="Google Shape;121;p1"/>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22" name="Google Shape;122;p1"/>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23" name="Google Shape;123;p1"/>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24" name="Google Shape;124;p1"/>
          <p:cNvSpPr/>
          <p:nvPr/>
        </p:nvSpPr>
        <p:spPr>
          <a:xfrm>
            <a:off x="446534" y="3085764"/>
            <a:ext cx="11298932" cy="3338149"/>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25" name="Google Shape;125;p1"/>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Libre Franklin"/>
              <a:buNone/>
            </a:pPr>
            <a:endParaRPr sz="1800" b="0" i="0" u="none" strike="noStrike" cap="none">
              <a:solidFill>
                <a:srgbClr val="FFFFFF"/>
              </a:solidFill>
              <a:latin typeface="Gill Sans"/>
              <a:ea typeface="Gill Sans"/>
              <a:cs typeface="Gill Sans"/>
              <a:sym typeface="Gill Sans"/>
            </a:endParaRPr>
          </a:p>
        </p:txBody>
      </p:sp>
      <p:sp>
        <p:nvSpPr>
          <p:cNvPr id="126" name="Google Shape;126;p1"/>
          <p:cNvSpPr/>
          <p:nvPr/>
        </p:nvSpPr>
        <p:spPr>
          <a:xfrm>
            <a:off x="0" y="0"/>
            <a:ext cx="12192000" cy="6858000"/>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27" name="Google Shape;127;p1"/>
          <p:cNvSpPr txBox="1">
            <a:spLocks noGrp="1"/>
          </p:cNvSpPr>
          <p:nvPr>
            <p:ph type="title"/>
          </p:nvPr>
        </p:nvSpPr>
        <p:spPr>
          <a:xfrm>
            <a:off x="638620" y="863695"/>
            <a:ext cx="3511233" cy="3779995"/>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3600"/>
              <a:buFont typeface="Franklin Gothic"/>
              <a:buNone/>
            </a:pPr>
            <a:r>
              <a:rPr lang="en-US" sz="3600">
                <a:solidFill>
                  <a:srgbClr val="FFFFFF"/>
                </a:solidFill>
              </a:rPr>
              <a:t>ETHICS AND DATA PRIVACY ISSUES FOR DATA SCIENCE</a:t>
            </a:r>
            <a:endParaRPr/>
          </a:p>
        </p:txBody>
      </p:sp>
      <p:sp>
        <p:nvSpPr>
          <p:cNvPr id="128" name="Google Shape;128;p1"/>
          <p:cNvSpPr txBox="1"/>
          <p:nvPr/>
        </p:nvSpPr>
        <p:spPr>
          <a:xfrm>
            <a:off x="638620" y="5920240"/>
            <a:ext cx="3511233" cy="503673"/>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None/>
            </a:pPr>
            <a:r>
              <a:rPr lang="en-US" sz="1400">
                <a:solidFill>
                  <a:srgbClr val="FFFFFF"/>
                </a:solidFill>
                <a:latin typeface="Libre Franklin"/>
                <a:ea typeface="Libre Franklin"/>
                <a:cs typeface="Libre Franklin"/>
                <a:sym typeface="Libre Franklin"/>
              </a:rPr>
              <a:t>DALL-E3 Prompt: Decepticon tries to steal data from university students</a:t>
            </a:r>
            <a:endParaRPr/>
          </a:p>
        </p:txBody>
      </p:sp>
      <p:sp>
        <p:nvSpPr>
          <p:cNvPr id="129" name="Google Shape;129;p1"/>
          <p:cNvSpPr/>
          <p:nvPr/>
        </p:nvSpPr>
        <p:spPr>
          <a:xfrm>
            <a:off x="638620" y="457200"/>
            <a:ext cx="3511233" cy="9143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130" name="Google Shape;130;p1" descr="A robot in a classroom&#10;&#10;Description automatically generated"/>
          <p:cNvPicPr preferRelativeResize="0"/>
          <p:nvPr/>
        </p:nvPicPr>
        <p:blipFill rotWithShape="1">
          <a:blip r:embed="rId3">
            <a:alphaModFix/>
          </a:blip>
          <a:srcRect t="5622" r="-2" b="11119"/>
          <a:stretch/>
        </p:blipFill>
        <p:spPr>
          <a:xfrm>
            <a:off x="4654295" y="457200"/>
            <a:ext cx="7086151" cy="5899650"/>
          </a:xfrm>
          <a:prstGeom prst="rect">
            <a:avLst/>
          </a:prstGeom>
          <a:noFill/>
          <a:ln>
            <a:noFill/>
          </a:ln>
        </p:spPr>
      </p:pic>
      <p:sp>
        <p:nvSpPr>
          <p:cNvPr id="131" name="Google Shape;131;p1"/>
          <p:cNvSpPr txBox="1">
            <a:spLocks noGrp="1"/>
          </p:cNvSpPr>
          <p:nvPr>
            <p:ph type="sldNum" idx="12"/>
          </p:nvPr>
        </p:nvSpPr>
        <p:spPr>
          <a:xfrm>
            <a:off x="10558300" y="6400800"/>
            <a:ext cx="101644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FFFFFF"/>
                </a:solidFill>
              </a:rPr>
              <a:t>1</a:t>
            </a:fld>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35"/>
        <p:cNvGrpSpPr/>
        <p:nvPr/>
      </p:nvGrpSpPr>
      <p:grpSpPr>
        <a:xfrm>
          <a:off x="0" y="0"/>
          <a:ext cx="0" cy="0"/>
          <a:chOff x="0" y="0"/>
          <a:chExt cx="0" cy="0"/>
        </a:xfrm>
      </p:grpSpPr>
      <p:sp>
        <p:nvSpPr>
          <p:cNvPr id="136" name="Google Shape;136;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7" name="Google Shape;137;p5"/>
          <p:cNvSpPr/>
          <p:nvPr/>
        </p:nvSpPr>
        <p:spPr>
          <a:xfrm>
            <a:off x="446534" y="601200"/>
            <a:ext cx="3703320" cy="5789365"/>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8" name="Google Shape;138;p5"/>
          <p:cNvSpPr txBox="1">
            <a:spLocks noGrp="1"/>
          </p:cNvSpPr>
          <p:nvPr>
            <p:ph type="title"/>
          </p:nvPr>
        </p:nvSpPr>
        <p:spPr>
          <a:xfrm>
            <a:off x="672280" y="944752"/>
            <a:ext cx="3259016" cy="586868"/>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FFFFFF"/>
              </a:buClr>
              <a:buSzPts val="2800"/>
              <a:buFont typeface="Franklin Gothic"/>
              <a:buNone/>
            </a:pPr>
            <a:r>
              <a:rPr lang="en-US">
                <a:solidFill>
                  <a:srgbClr val="FFFFFF"/>
                </a:solidFill>
              </a:rPr>
              <a:t>AGENDA</a:t>
            </a:r>
            <a:endParaRPr/>
          </a:p>
        </p:txBody>
      </p:sp>
      <p:sp>
        <p:nvSpPr>
          <p:cNvPr id="139" name="Google Shape;139;p5"/>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40" name="Google Shape;140;p5"/>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41" name="Google Shape;141;p5"/>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42" name="Google Shape;142;p5"/>
          <p:cNvSpPr txBox="1">
            <a:spLocks noGrp="1"/>
          </p:cNvSpPr>
          <p:nvPr>
            <p:ph type="body" idx="1"/>
          </p:nvPr>
        </p:nvSpPr>
        <p:spPr>
          <a:xfrm>
            <a:off x="671513" y="1875172"/>
            <a:ext cx="3123783" cy="3671936"/>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10000"/>
              </a:lnSpc>
              <a:spcBef>
                <a:spcPts val="0"/>
              </a:spcBef>
              <a:spcAft>
                <a:spcPts val="0"/>
              </a:spcAft>
              <a:buSzPct val="91999"/>
              <a:buNone/>
            </a:pPr>
            <a:r>
              <a:rPr lang="en-US" sz="1900" b="1">
                <a:solidFill>
                  <a:srgbClr val="FFFFFF"/>
                </a:solidFill>
              </a:rPr>
              <a:t>Ethical Issues in AI</a:t>
            </a:r>
            <a:endParaRPr/>
          </a:p>
          <a:p>
            <a:pPr marL="630000" lvl="1" indent="-306000" algn="l" rtl="0">
              <a:spcBef>
                <a:spcPts val="933"/>
              </a:spcBef>
              <a:spcAft>
                <a:spcPts val="0"/>
              </a:spcAft>
              <a:buSzPct val="91999"/>
              <a:buChar char="◼"/>
            </a:pPr>
            <a:r>
              <a:rPr lang="en-US" sz="1800" b="1"/>
              <a:t>Bias</a:t>
            </a:r>
            <a:endParaRPr/>
          </a:p>
          <a:p>
            <a:pPr marL="630000" lvl="1" indent="-306000" algn="l" rtl="0">
              <a:spcBef>
                <a:spcPts val="933"/>
              </a:spcBef>
              <a:spcAft>
                <a:spcPts val="0"/>
              </a:spcAft>
              <a:buSzPct val="91999"/>
              <a:buChar char="◼"/>
            </a:pPr>
            <a:r>
              <a:rPr lang="en-US" sz="1800" b="1"/>
              <a:t>Data Privacy</a:t>
            </a:r>
            <a:endParaRPr/>
          </a:p>
          <a:p>
            <a:pPr marL="630000" lvl="1" indent="-306000" algn="l" rtl="0">
              <a:spcBef>
                <a:spcPts val="933"/>
              </a:spcBef>
              <a:spcAft>
                <a:spcPts val="0"/>
              </a:spcAft>
              <a:buSzPct val="91999"/>
              <a:buChar char="◼"/>
            </a:pPr>
            <a:r>
              <a:rPr lang="en-US" sz="1800" b="1"/>
              <a:t>Job Displacement</a:t>
            </a:r>
            <a:endParaRPr/>
          </a:p>
          <a:p>
            <a:pPr marL="630000" lvl="1" indent="-306000" algn="l" rtl="0">
              <a:spcBef>
                <a:spcPts val="933"/>
              </a:spcBef>
              <a:spcAft>
                <a:spcPts val="0"/>
              </a:spcAft>
              <a:buSzPct val="91999"/>
              <a:buChar char="◼"/>
            </a:pPr>
            <a:r>
              <a:rPr lang="en-US" sz="1800" b="1"/>
              <a:t>Liability</a:t>
            </a:r>
            <a:endParaRPr/>
          </a:p>
          <a:p>
            <a:pPr marL="630000" lvl="1" indent="-306000" algn="l" rtl="0">
              <a:spcBef>
                <a:spcPts val="933"/>
              </a:spcBef>
              <a:spcAft>
                <a:spcPts val="0"/>
              </a:spcAft>
              <a:buSzPct val="91999"/>
              <a:buChar char="◼"/>
            </a:pPr>
            <a:r>
              <a:rPr lang="en-US" sz="1800" b="1"/>
              <a:t>Disinformation</a:t>
            </a:r>
            <a:endParaRPr/>
          </a:p>
          <a:p>
            <a:pPr marL="630000" lvl="1" indent="-306000" algn="l" rtl="0">
              <a:spcBef>
                <a:spcPts val="933"/>
              </a:spcBef>
              <a:spcAft>
                <a:spcPts val="0"/>
              </a:spcAft>
              <a:buSzPct val="91999"/>
              <a:buChar char="◼"/>
            </a:pPr>
            <a:r>
              <a:rPr lang="en-US" sz="1800" b="1"/>
              <a:t>Transparency</a:t>
            </a:r>
            <a:endParaRPr/>
          </a:p>
          <a:p>
            <a:pPr marL="630000" lvl="1" indent="-306000" algn="l" rtl="0">
              <a:spcBef>
                <a:spcPts val="933"/>
              </a:spcBef>
              <a:spcAft>
                <a:spcPts val="0"/>
              </a:spcAft>
              <a:buSzPct val="91999"/>
              <a:buChar char="◼"/>
            </a:pPr>
            <a:r>
              <a:rPr lang="en-US" sz="1800" b="1"/>
              <a:t>The Singularity--AGI</a:t>
            </a:r>
            <a:endParaRPr/>
          </a:p>
          <a:p>
            <a:pPr marL="630000" lvl="1" indent="-306000" algn="l" rtl="0">
              <a:spcBef>
                <a:spcPts val="933"/>
              </a:spcBef>
              <a:spcAft>
                <a:spcPts val="0"/>
              </a:spcAft>
              <a:buSzPct val="91999"/>
              <a:buChar char="◼"/>
            </a:pPr>
            <a:r>
              <a:rPr lang="en-US" sz="1800" b="1"/>
              <a:t>Impact of AI Regulations</a:t>
            </a:r>
            <a:endParaRPr/>
          </a:p>
          <a:p>
            <a:pPr marL="306000" lvl="0" indent="-214163" algn="l" rtl="0">
              <a:lnSpc>
                <a:spcPct val="110000"/>
              </a:lnSpc>
              <a:spcBef>
                <a:spcPts val="914"/>
              </a:spcBef>
              <a:spcAft>
                <a:spcPts val="0"/>
              </a:spcAft>
              <a:buSzPct val="92000"/>
              <a:buNone/>
            </a:pPr>
            <a:endParaRPr>
              <a:solidFill>
                <a:srgbClr val="FFFFFF"/>
              </a:solidFill>
            </a:endParaRPr>
          </a:p>
        </p:txBody>
      </p:sp>
      <p:pic>
        <p:nvPicPr>
          <p:cNvPr id="143" name="Google Shape;143;p5" descr="Code of Ethics in Technology"/>
          <p:cNvPicPr preferRelativeResize="0"/>
          <p:nvPr/>
        </p:nvPicPr>
        <p:blipFill rotWithShape="1">
          <a:blip r:embed="rId3">
            <a:alphaModFix/>
          </a:blip>
          <a:srcRect l="25830" r="9365" b="1"/>
          <a:stretch/>
        </p:blipFill>
        <p:spPr>
          <a:xfrm>
            <a:off x="4241830" y="601200"/>
            <a:ext cx="7503636" cy="578936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FORM BREAKOUT GROUPS AND PICK </a:t>
            </a:r>
            <a:endParaRPr/>
          </a:p>
        </p:txBody>
      </p:sp>
      <p:sp>
        <p:nvSpPr>
          <p:cNvPr id="149" name="Google Shape;149;p6"/>
          <p:cNvSpPr txBox="1">
            <a:spLocks noGrp="1"/>
          </p:cNvSpPr>
          <p:nvPr>
            <p:ph type="body" idx="1"/>
          </p:nvPr>
        </p:nvSpPr>
        <p:spPr>
          <a:xfrm>
            <a:off x="753472" y="1504122"/>
            <a:ext cx="3567068" cy="4524237"/>
          </a:xfrm>
          <a:prstGeom prst="rect">
            <a:avLst/>
          </a:prstGeom>
          <a:noFill/>
          <a:ln>
            <a:noFill/>
          </a:ln>
        </p:spPr>
        <p:txBody>
          <a:bodyPr spcFirstLastPara="1" wrap="square" lIns="91425" tIns="45700" rIns="91425" bIns="45700" anchor="t" anchorCtr="0">
            <a:normAutofit/>
          </a:bodyPr>
          <a:lstStyle/>
          <a:p>
            <a:pPr marL="630000" lvl="1" indent="-306000" algn="l" rtl="0">
              <a:spcBef>
                <a:spcPts val="0"/>
              </a:spcBef>
              <a:spcAft>
                <a:spcPts val="0"/>
              </a:spcAft>
              <a:buSzPts val="1840"/>
              <a:buChar char="◼"/>
            </a:pPr>
            <a:r>
              <a:rPr lang="en-US" sz="2000" b="1"/>
              <a:t>Bias</a:t>
            </a:r>
            <a:endParaRPr/>
          </a:p>
          <a:p>
            <a:pPr marL="630000" lvl="1" indent="-306000" algn="l" rtl="0">
              <a:spcBef>
                <a:spcPts val="1000"/>
              </a:spcBef>
              <a:spcAft>
                <a:spcPts val="0"/>
              </a:spcAft>
              <a:buSzPts val="1840"/>
              <a:buChar char="◼"/>
            </a:pPr>
            <a:r>
              <a:rPr lang="en-US" sz="2000" b="1"/>
              <a:t>Privacy</a:t>
            </a:r>
            <a:endParaRPr/>
          </a:p>
          <a:p>
            <a:pPr marL="630000" lvl="1" indent="-306000" algn="l" rtl="0">
              <a:spcBef>
                <a:spcPts val="1000"/>
              </a:spcBef>
              <a:spcAft>
                <a:spcPts val="0"/>
              </a:spcAft>
              <a:buSzPts val="1840"/>
              <a:buChar char="◼"/>
            </a:pPr>
            <a:r>
              <a:rPr lang="en-US" sz="2000" b="1"/>
              <a:t>Job Displacement</a:t>
            </a:r>
            <a:endParaRPr/>
          </a:p>
          <a:p>
            <a:pPr marL="630000" lvl="1" indent="-306000" algn="l" rtl="0">
              <a:spcBef>
                <a:spcPts val="1000"/>
              </a:spcBef>
              <a:spcAft>
                <a:spcPts val="0"/>
              </a:spcAft>
              <a:buSzPts val="1840"/>
              <a:buChar char="◼"/>
            </a:pPr>
            <a:r>
              <a:rPr lang="en-US" sz="2000" b="1"/>
              <a:t>Liability</a:t>
            </a:r>
            <a:endParaRPr/>
          </a:p>
          <a:p>
            <a:pPr marL="630000" lvl="1" indent="-306000" algn="l" rtl="0">
              <a:spcBef>
                <a:spcPts val="1000"/>
              </a:spcBef>
              <a:spcAft>
                <a:spcPts val="0"/>
              </a:spcAft>
              <a:buSzPts val="1840"/>
              <a:buChar char="◼"/>
            </a:pPr>
            <a:r>
              <a:rPr lang="en-US" sz="2000" b="1"/>
              <a:t>Disinformation</a:t>
            </a:r>
            <a:endParaRPr/>
          </a:p>
          <a:p>
            <a:pPr marL="630000" lvl="1" indent="-306000" algn="l" rtl="0">
              <a:spcBef>
                <a:spcPts val="1000"/>
              </a:spcBef>
              <a:spcAft>
                <a:spcPts val="0"/>
              </a:spcAft>
              <a:buSzPts val="1840"/>
              <a:buChar char="◼"/>
            </a:pPr>
            <a:r>
              <a:rPr lang="en-US" sz="2000" b="1"/>
              <a:t>Transparency</a:t>
            </a:r>
            <a:endParaRPr/>
          </a:p>
          <a:p>
            <a:pPr marL="630000" lvl="1" indent="-306000" algn="l" rtl="0">
              <a:spcBef>
                <a:spcPts val="1000"/>
              </a:spcBef>
              <a:spcAft>
                <a:spcPts val="0"/>
              </a:spcAft>
              <a:buSzPts val="1840"/>
              <a:buChar char="◼"/>
            </a:pPr>
            <a:r>
              <a:rPr lang="en-US" sz="2000" b="1"/>
              <a:t>The Singularity--AGI</a:t>
            </a:r>
            <a:endParaRPr/>
          </a:p>
          <a:p>
            <a:pPr marL="630000" lvl="1" indent="-306000" algn="l" rtl="0">
              <a:spcBef>
                <a:spcPts val="1000"/>
              </a:spcBef>
              <a:spcAft>
                <a:spcPts val="0"/>
              </a:spcAft>
              <a:buSzPts val="1840"/>
              <a:buChar char="◼"/>
            </a:pPr>
            <a:r>
              <a:rPr lang="en-US" sz="2000" b="1"/>
              <a:t>Impact of AI Regulations</a:t>
            </a:r>
            <a:endParaRPr/>
          </a:p>
        </p:txBody>
      </p:sp>
      <p:sp>
        <p:nvSpPr>
          <p:cNvPr id="150" name="Google Shape;150;p6"/>
          <p:cNvSpPr txBox="1"/>
          <p:nvPr/>
        </p:nvSpPr>
        <p:spPr>
          <a:xfrm>
            <a:off x="4240530" y="1504122"/>
            <a:ext cx="7635240" cy="4524237"/>
          </a:xfrm>
          <a:prstGeom prst="rect">
            <a:avLst/>
          </a:prstGeom>
          <a:noFill/>
          <a:ln>
            <a:noFill/>
          </a:ln>
        </p:spPr>
        <p:txBody>
          <a:bodyPr spcFirstLastPara="1" wrap="square" lIns="91425" tIns="45700" rIns="91425" bIns="45700" anchor="t" anchorCtr="0">
            <a:normAutofit/>
          </a:bodyPr>
          <a:lstStyle/>
          <a:p>
            <a:pPr marL="0" marR="0" lvl="1" indent="0" algn="l" rtl="0">
              <a:spcBef>
                <a:spcPts val="0"/>
              </a:spcBef>
              <a:spcAft>
                <a:spcPts val="0"/>
              </a:spcAft>
              <a:buClr>
                <a:schemeClr val="accent1"/>
              </a:buClr>
              <a:buSzPts val="1840"/>
              <a:buFont typeface="Noto Sans Symbols"/>
              <a:buNone/>
            </a:pPr>
            <a:r>
              <a:rPr lang="en-US" sz="2000" b="1" i="0" u="none" strike="noStrike" cap="none">
                <a:solidFill>
                  <a:srgbClr val="3F3F3F"/>
                </a:solidFill>
                <a:latin typeface="Libre Franklin"/>
                <a:ea typeface="Libre Franklin"/>
                <a:cs typeface="Libre Franklin"/>
                <a:sym typeface="Libre Franklin"/>
              </a:rPr>
              <a:t>Is AI fair? Who stands most to lose/win? What can we do about it?</a:t>
            </a:r>
            <a:endParaRPr/>
          </a:p>
          <a:p>
            <a:pPr marL="0" marR="0" lvl="1" indent="0" algn="l" rtl="0">
              <a:spcBef>
                <a:spcPts val="600"/>
              </a:spcBef>
              <a:spcAft>
                <a:spcPts val="0"/>
              </a:spcAft>
              <a:buClr>
                <a:schemeClr val="accent1"/>
              </a:buClr>
              <a:buSzPts val="1840"/>
              <a:buFont typeface="Noto Sans Symbols"/>
              <a:buNone/>
            </a:pPr>
            <a:r>
              <a:rPr lang="en-US" sz="2000" b="1" i="0" u="none" strike="noStrike" cap="none">
                <a:solidFill>
                  <a:srgbClr val="3F3F3F"/>
                </a:solidFill>
                <a:latin typeface="Libre Franklin"/>
                <a:ea typeface="Libre Franklin"/>
                <a:cs typeface="Libre Franklin"/>
                <a:sym typeface="Libre Franklin"/>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BIAS</a:t>
            </a:r>
            <a:endParaRPr/>
          </a:p>
        </p:txBody>
      </p:sp>
      <p:pic>
        <p:nvPicPr>
          <p:cNvPr id="156" name="Google Shape;156;p7" descr="AI isn't biased. We are! | turalt"/>
          <p:cNvPicPr preferRelativeResize="0"/>
          <p:nvPr/>
        </p:nvPicPr>
        <p:blipFill rotWithShape="1">
          <a:blip r:embed="rId3">
            <a:alphaModFix/>
          </a:blip>
          <a:srcRect/>
          <a:stretch/>
        </p:blipFill>
        <p:spPr>
          <a:xfrm>
            <a:off x="5648632" y="1730970"/>
            <a:ext cx="5155406" cy="3396059"/>
          </a:xfrm>
          <a:prstGeom prst="rect">
            <a:avLst/>
          </a:prstGeom>
          <a:noFill/>
          <a:ln>
            <a:noFill/>
          </a:ln>
          <a:effectLst>
            <a:outerShdw blurRad="292100" dist="139700" dir="2700000" algn="tl" rotWithShape="0">
              <a:srgbClr val="333333">
                <a:alpha val="64705"/>
              </a:srgbClr>
            </a:outerShdw>
          </a:effectLst>
        </p:spPr>
      </p:pic>
      <p:sp>
        <p:nvSpPr>
          <p:cNvPr id="157" name="Google Shape;157;p7"/>
          <p:cNvSpPr txBox="1">
            <a:spLocks noGrp="1"/>
          </p:cNvSpPr>
          <p:nvPr>
            <p:ph type="body" idx="1"/>
          </p:nvPr>
        </p:nvSpPr>
        <p:spPr>
          <a:xfrm>
            <a:off x="609600" y="1730970"/>
            <a:ext cx="5039032" cy="3396060"/>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Is AI fair?</a:t>
            </a:r>
            <a:endParaRPr/>
          </a:p>
          <a:p>
            <a:pPr marL="306000" lvl="0" indent="-306000" algn="l" rtl="0">
              <a:lnSpc>
                <a:spcPct val="110000"/>
              </a:lnSpc>
              <a:spcBef>
                <a:spcPts val="1000"/>
              </a:spcBef>
              <a:spcAft>
                <a:spcPts val="0"/>
              </a:spcAft>
              <a:buSzPts val="1840"/>
              <a:buChar char="◼"/>
            </a:pPr>
            <a:r>
              <a:rPr lang="en-US" sz="2000"/>
              <a:t>If not, who stands the most to lose?</a:t>
            </a:r>
            <a:endParaRPr/>
          </a:p>
          <a:p>
            <a:pPr marL="306000" lvl="0" indent="-306000" algn="l" rtl="0">
              <a:lnSpc>
                <a:spcPct val="110000"/>
              </a:lnSpc>
              <a:spcBef>
                <a:spcPts val="1000"/>
              </a:spcBef>
              <a:spcAft>
                <a:spcPts val="0"/>
              </a:spcAft>
              <a:buSzPts val="1840"/>
              <a:buChar char="◼"/>
            </a:pPr>
            <a:r>
              <a:rPr lang="en-US" sz="2000"/>
              <a:t>How do we fix this?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8"/>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PRIVACY AND SURVEILLANCE</a:t>
            </a:r>
            <a:endParaRPr/>
          </a:p>
        </p:txBody>
      </p:sp>
      <p:pic>
        <p:nvPicPr>
          <p:cNvPr id="163" name="Google Shape;163;p8" descr="Artificial intelligence is going to supercharge surveillance - The Verge"/>
          <p:cNvPicPr preferRelativeResize="0"/>
          <p:nvPr/>
        </p:nvPicPr>
        <p:blipFill rotWithShape="1">
          <a:blip r:embed="rId3">
            <a:alphaModFix/>
          </a:blip>
          <a:srcRect/>
          <a:stretch/>
        </p:blipFill>
        <p:spPr>
          <a:xfrm>
            <a:off x="7065761" y="1600200"/>
            <a:ext cx="4071729" cy="4071729"/>
          </a:xfrm>
          <a:prstGeom prst="rect">
            <a:avLst/>
          </a:prstGeom>
          <a:noFill/>
          <a:ln>
            <a:noFill/>
          </a:ln>
          <a:effectLst>
            <a:outerShdw blurRad="292100" dist="139700" dir="2700000" algn="tl" rotWithShape="0">
              <a:srgbClr val="333333">
                <a:alpha val="64705"/>
              </a:srgbClr>
            </a:outerShdw>
          </a:effectLst>
        </p:spPr>
      </p:pic>
      <p:sp>
        <p:nvSpPr>
          <p:cNvPr id="164" name="Google Shape;164;p8"/>
          <p:cNvSpPr txBox="1">
            <a:spLocks noGrp="1"/>
          </p:cNvSpPr>
          <p:nvPr>
            <p:ph type="body" idx="1"/>
          </p:nvPr>
        </p:nvSpPr>
        <p:spPr>
          <a:xfrm>
            <a:off x="609600" y="1600201"/>
            <a:ext cx="6292645" cy="4071729"/>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What expectations for right to privacy should we have?</a:t>
            </a:r>
            <a:endParaRPr/>
          </a:p>
          <a:p>
            <a:pPr marL="306000" lvl="0" indent="-306000" algn="l" rtl="0">
              <a:lnSpc>
                <a:spcPct val="110000"/>
              </a:lnSpc>
              <a:spcBef>
                <a:spcPts val="1000"/>
              </a:spcBef>
              <a:spcAft>
                <a:spcPts val="0"/>
              </a:spcAft>
              <a:buSzPts val="1840"/>
              <a:buChar char="◼"/>
            </a:pPr>
            <a:r>
              <a:rPr lang="en-US" sz="2000"/>
              <a:t>What data should be treated as private vs public? </a:t>
            </a:r>
            <a:endParaRPr/>
          </a:p>
          <a:p>
            <a:pPr marL="306000" lvl="0" indent="-306000" algn="l" rtl="0">
              <a:lnSpc>
                <a:spcPct val="110000"/>
              </a:lnSpc>
              <a:spcBef>
                <a:spcPts val="1000"/>
              </a:spcBef>
              <a:spcAft>
                <a:spcPts val="0"/>
              </a:spcAft>
              <a:buSzPts val="1840"/>
              <a:buChar char="◼"/>
            </a:pPr>
            <a:r>
              <a:rPr lang="en-US" sz="2000"/>
              <a:t>What rights do we have to data collected about us?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SMALL SAMPLE OF RECENT DATA PRIVACY FINES</a:t>
            </a:r>
            <a:endParaRPr/>
          </a:p>
        </p:txBody>
      </p:sp>
      <p:sp>
        <p:nvSpPr>
          <p:cNvPr id="171" name="Google Shape;171;p9"/>
          <p:cNvSpPr txBox="1">
            <a:spLocks noGrp="1"/>
          </p:cNvSpPr>
          <p:nvPr>
            <p:ph type="body" idx="1"/>
          </p:nvPr>
        </p:nvSpPr>
        <p:spPr>
          <a:xfrm>
            <a:off x="581192" y="1451113"/>
            <a:ext cx="11029615" cy="4524237"/>
          </a:xfrm>
          <a:prstGeom prst="rect">
            <a:avLst/>
          </a:prstGeom>
          <a:noFill/>
          <a:ln>
            <a:noFill/>
          </a:ln>
        </p:spPr>
        <p:txBody>
          <a:bodyPr spcFirstLastPara="1" wrap="square" lIns="91425" tIns="45700" rIns="91425" bIns="45700" anchor="ctr" anchorCtr="0">
            <a:normAutofit fontScale="92500" lnSpcReduction="10000"/>
          </a:bodyPr>
          <a:lstStyle/>
          <a:p>
            <a:pPr marL="306000" lvl="0" indent="-306029" algn="l" rtl="0">
              <a:lnSpc>
                <a:spcPct val="110000"/>
              </a:lnSpc>
              <a:spcBef>
                <a:spcPts val="0"/>
              </a:spcBef>
              <a:spcAft>
                <a:spcPts val="0"/>
              </a:spcAft>
              <a:buSzPct val="92000"/>
              <a:buChar char="◼"/>
            </a:pPr>
            <a:r>
              <a:rPr lang="en-US" b="1" dirty="0">
                <a:solidFill>
                  <a:srgbClr val="0E0E0E"/>
                </a:solidFill>
                <a:latin typeface="Arial"/>
                <a:ea typeface="Arial"/>
                <a:cs typeface="Arial"/>
                <a:sym typeface="Arial"/>
              </a:rPr>
              <a:t>Meta (Facebook)</a:t>
            </a:r>
            <a:r>
              <a:rPr lang="en-US" dirty="0">
                <a:solidFill>
                  <a:srgbClr val="0E0E0E"/>
                </a:solidFill>
                <a:latin typeface="Arial"/>
                <a:ea typeface="Arial"/>
                <a:cs typeface="Arial"/>
                <a:sym typeface="Arial"/>
              </a:rPr>
              <a:t>: In 2019, the FTC imposed a record-breaking </a:t>
            </a:r>
            <a:r>
              <a:rPr lang="en-US" dirty="0">
                <a:solidFill>
                  <a:srgbClr val="0E0E0E"/>
                </a:solidFill>
                <a:highlight>
                  <a:srgbClr val="FFFF00"/>
                </a:highlight>
                <a:latin typeface="Arial"/>
                <a:ea typeface="Arial"/>
                <a:cs typeface="Arial"/>
                <a:sym typeface="Arial"/>
              </a:rPr>
              <a:t>$5 billion fine </a:t>
            </a:r>
            <a:r>
              <a:rPr lang="en-US" dirty="0">
                <a:solidFill>
                  <a:srgbClr val="0E0E0E"/>
                </a:solidFill>
                <a:latin typeface="Arial"/>
                <a:ea typeface="Arial"/>
                <a:cs typeface="Arial"/>
                <a:sym typeface="Arial"/>
              </a:rPr>
              <a:t>on Facebook for privacy violations related to the Cambridge Analytica scandal. The company had deceived users about their ability to control the sharing of personal data with third parties. This penalty was accompanied by new restrictions on Facebook’s data handling practices to ensure greater accountability in the future.</a:t>
            </a:r>
            <a:endParaRPr dirty="0"/>
          </a:p>
          <a:p>
            <a:pPr marL="306000" lvl="0" indent="-306029" algn="l" rtl="0">
              <a:lnSpc>
                <a:spcPct val="110000"/>
              </a:lnSpc>
              <a:spcBef>
                <a:spcPts val="914"/>
              </a:spcBef>
              <a:spcAft>
                <a:spcPts val="0"/>
              </a:spcAft>
              <a:buSzPct val="92000"/>
              <a:buChar char="◼"/>
            </a:pPr>
            <a:r>
              <a:rPr lang="en-US" b="1" dirty="0">
                <a:solidFill>
                  <a:srgbClr val="0E0E0E"/>
                </a:solidFill>
                <a:latin typeface="Arial"/>
                <a:ea typeface="Arial"/>
                <a:cs typeface="Arial"/>
                <a:sym typeface="Arial"/>
              </a:rPr>
              <a:t>Amazon</a:t>
            </a:r>
            <a:r>
              <a:rPr lang="en-US" dirty="0">
                <a:solidFill>
                  <a:srgbClr val="0E0E0E"/>
                </a:solidFill>
                <a:latin typeface="Arial"/>
                <a:ea typeface="Arial"/>
                <a:cs typeface="Arial"/>
                <a:sym typeface="Arial"/>
              </a:rPr>
              <a:t>: The Luxembourg National Commission for Data Protection fined Amazon €746 million </a:t>
            </a:r>
            <a:r>
              <a:rPr lang="en-US" dirty="0">
                <a:solidFill>
                  <a:srgbClr val="0E0E0E"/>
                </a:solidFill>
                <a:highlight>
                  <a:srgbClr val="FFFF00"/>
                </a:highlight>
                <a:latin typeface="Arial"/>
                <a:ea typeface="Arial"/>
                <a:cs typeface="Arial"/>
                <a:sym typeface="Arial"/>
              </a:rPr>
              <a:t>($888 million</a:t>
            </a:r>
            <a:r>
              <a:rPr lang="en-US" dirty="0">
                <a:solidFill>
                  <a:srgbClr val="0E0E0E"/>
                </a:solidFill>
                <a:latin typeface="Arial"/>
                <a:ea typeface="Arial"/>
                <a:cs typeface="Arial"/>
                <a:sym typeface="Arial"/>
              </a:rPr>
              <a:t>) in 2021. The penalty was for improper targeting of ads and mishandling customer data without obtaining proper consent, violating the European Union’s GDPR.</a:t>
            </a:r>
            <a:endParaRPr dirty="0"/>
          </a:p>
          <a:p>
            <a:pPr marL="306000" lvl="0" indent="-306029" algn="l" rtl="0">
              <a:lnSpc>
                <a:spcPct val="110000"/>
              </a:lnSpc>
              <a:spcBef>
                <a:spcPts val="914"/>
              </a:spcBef>
              <a:spcAft>
                <a:spcPts val="0"/>
              </a:spcAft>
              <a:buSzPct val="92000"/>
              <a:buChar char="◼"/>
            </a:pPr>
            <a:r>
              <a:rPr lang="en-US" b="1" dirty="0">
                <a:solidFill>
                  <a:srgbClr val="0E0E0E"/>
                </a:solidFill>
                <a:latin typeface="Arial"/>
                <a:ea typeface="Arial"/>
                <a:cs typeface="Arial"/>
                <a:sym typeface="Arial"/>
              </a:rPr>
              <a:t>Meta (Instagram)</a:t>
            </a:r>
            <a:r>
              <a:rPr lang="en-US" dirty="0">
                <a:solidFill>
                  <a:srgbClr val="0E0E0E"/>
                </a:solidFill>
                <a:latin typeface="Arial"/>
                <a:ea typeface="Arial"/>
                <a:cs typeface="Arial"/>
                <a:sym typeface="Arial"/>
              </a:rPr>
              <a:t>: In a separate case, Meta faced a </a:t>
            </a:r>
            <a:r>
              <a:rPr lang="en-US" dirty="0">
                <a:solidFill>
                  <a:srgbClr val="0E0E0E"/>
                </a:solidFill>
                <a:highlight>
                  <a:srgbClr val="FFFF00"/>
                </a:highlight>
                <a:latin typeface="Arial"/>
                <a:ea typeface="Arial"/>
                <a:cs typeface="Arial"/>
                <a:sym typeface="Arial"/>
              </a:rPr>
              <a:t>€405 million fine </a:t>
            </a:r>
            <a:r>
              <a:rPr lang="en-US" dirty="0">
                <a:solidFill>
                  <a:srgbClr val="0E0E0E"/>
                </a:solidFill>
                <a:latin typeface="Arial"/>
                <a:ea typeface="Arial"/>
                <a:cs typeface="Arial"/>
                <a:sym typeface="Arial"/>
              </a:rPr>
              <a:t>by the Irish Data Protection Commission in 2022 over Instagram’s mishandling of teenagers’ data. The regulator found that the platform had made children’s personal information publicly accessible without adequate protective measures.</a:t>
            </a:r>
            <a:endParaRPr dirty="0"/>
          </a:p>
          <a:p>
            <a:pPr marL="306000" lvl="0" indent="-306029" algn="l" rtl="0">
              <a:lnSpc>
                <a:spcPct val="110000"/>
              </a:lnSpc>
              <a:spcBef>
                <a:spcPts val="914"/>
              </a:spcBef>
              <a:spcAft>
                <a:spcPts val="0"/>
              </a:spcAft>
              <a:buSzPct val="92000"/>
              <a:buChar char="◼"/>
            </a:pPr>
            <a:r>
              <a:rPr lang="en-US" b="1" dirty="0">
                <a:solidFill>
                  <a:srgbClr val="0E0E0E"/>
                </a:solidFill>
                <a:latin typeface="Arial"/>
                <a:ea typeface="Arial"/>
                <a:cs typeface="Arial"/>
                <a:sym typeface="Arial"/>
              </a:rPr>
              <a:t>Capital One</a:t>
            </a:r>
            <a:r>
              <a:rPr lang="en-US" dirty="0">
                <a:solidFill>
                  <a:srgbClr val="0E0E0E"/>
                </a:solidFill>
                <a:latin typeface="Arial"/>
                <a:ea typeface="Arial"/>
                <a:cs typeface="Arial"/>
                <a:sym typeface="Arial"/>
              </a:rPr>
              <a:t>: In 2020, Capital One paid an </a:t>
            </a:r>
            <a:r>
              <a:rPr lang="en-US" dirty="0">
                <a:solidFill>
                  <a:srgbClr val="0E0E0E"/>
                </a:solidFill>
                <a:highlight>
                  <a:srgbClr val="FFFF00"/>
                </a:highlight>
                <a:latin typeface="Arial"/>
                <a:ea typeface="Arial"/>
                <a:cs typeface="Arial"/>
                <a:sym typeface="Arial"/>
              </a:rPr>
              <a:t>$80 million fine </a:t>
            </a:r>
            <a:r>
              <a:rPr lang="en-US" dirty="0">
                <a:solidFill>
                  <a:srgbClr val="0E0E0E"/>
                </a:solidFill>
                <a:latin typeface="Arial"/>
                <a:ea typeface="Arial"/>
                <a:cs typeface="Arial"/>
                <a:sym typeface="Arial"/>
              </a:rPr>
              <a:t>following a data breach in 2019 that exposed personal data of over 100 million individuals. The U.S. Office of the Comptroller of the Currency penalized the company for lacking effective risk management and security practices.</a:t>
            </a:r>
            <a:endParaRPr dirty="0"/>
          </a:p>
          <a:p>
            <a:pPr marL="306000" lvl="0" indent="-306029" algn="l" rtl="0">
              <a:lnSpc>
                <a:spcPct val="110000"/>
              </a:lnSpc>
              <a:spcBef>
                <a:spcPts val="914"/>
              </a:spcBef>
              <a:spcAft>
                <a:spcPts val="0"/>
              </a:spcAft>
              <a:buSzPct val="92000"/>
              <a:buChar char="◼"/>
            </a:pPr>
            <a:r>
              <a:rPr lang="en-US" b="1" dirty="0">
                <a:solidFill>
                  <a:srgbClr val="0E0E0E"/>
                </a:solidFill>
                <a:latin typeface="Arial"/>
                <a:ea typeface="Arial"/>
                <a:cs typeface="Arial"/>
                <a:sym typeface="Arial"/>
              </a:rPr>
              <a:t>Google</a:t>
            </a:r>
            <a:r>
              <a:rPr lang="en-US" dirty="0">
                <a:solidFill>
                  <a:srgbClr val="0E0E0E"/>
                </a:solidFill>
                <a:latin typeface="Arial"/>
                <a:ea typeface="Arial"/>
                <a:cs typeface="Arial"/>
                <a:sym typeface="Arial"/>
              </a:rPr>
              <a:t>: The FTC fined Google </a:t>
            </a:r>
            <a:r>
              <a:rPr lang="en-US" dirty="0">
                <a:solidFill>
                  <a:srgbClr val="0E0E0E"/>
                </a:solidFill>
                <a:highlight>
                  <a:srgbClr val="FFFF00"/>
                </a:highlight>
                <a:latin typeface="Arial"/>
                <a:ea typeface="Arial"/>
                <a:cs typeface="Arial"/>
                <a:sym typeface="Arial"/>
              </a:rPr>
              <a:t>$170 million</a:t>
            </a:r>
            <a:r>
              <a:rPr lang="en-US" dirty="0">
                <a:solidFill>
                  <a:srgbClr val="0E0E0E"/>
                </a:solidFill>
                <a:latin typeface="Arial"/>
                <a:ea typeface="Arial"/>
                <a:cs typeface="Arial"/>
                <a:sym typeface="Arial"/>
              </a:rPr>
              <a:t> in 2019 for violating the Children’s Online Privacy Protection Act (COPPA). The tech giant was found to have illegally collected personal data from children on YouTube without parental consent.</a:t>
            </a:r>
            <a:endParaRPr dirty="0"/>
          </a:p>
        </p:txBody>
      </p:sp>
      <p:sp>
        <p:nvSpPr>
          <p:cNvPr id="172" name="Google Shape;172;p9"/>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0"/>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JOB DISPLACEMENT</a:t>
            </a:r>
            <a:endParaRPr/>
          </a:p>
        </p:txBody>
      </p:sp>
      <p:pic>
        <p:nvPicPr>
          <p:cNvPr id="178" name="Google Shape;178;p10" descr="Will AI cause mass unemployment?. Are chatbots and self-driving cars… | by  alphaHoo | Chatbots Life"/>
          <p:cNvPicPr preferRelativeResize="0"/>
          <p:nvPr/>
        </p:nvPicPr>
        <p:blipFill rotWithShape="1">
          <a:blip r:embed="rId3">
            <a:alphaModFix/>
          </a:blip>
          <a:srcRect/>
          <a:stretch/>
        </p:blipFill>
        <p:spPr>
          <a:xfrm>
            <a:off x="5486400" y="2148682"/>
            <a:ext cx="6096000" cy="3429000"/>
          </a:xfrm>
          <a:prstGeom prst="rect">
            <a:avLst/>
          </a:prstGeom>
          <a:noFill/>
          <a:ln>
            <a:noFill/>
          </a:ln>
          <a:effectLst>
            <a:outerShdw blurRad="292100" dist="139700" dir="2700000" algn="tl" rotWithShape="0">
              <a:srgbClr val="333333">
                <a:alpha val="64705"/>
              </a:srgbClr>
            </a:outerShdw>
          </a:effectLst>
        </p:spPr>
      </p:pic>
      <p:sp>
        <p:nvSpPr>
          <p:cNvPr id="179" name="Google Shape;179;p10"/>
          <p:cNvSpPr txBox="1">
            <a:spLocks noGrp="1"/>
          </p:cNvSpPr>
          <p:nvPr>
            <p:ph type="body" idx="1"/>
          </p:nvPr>
        </p:nvSpPr>
        <p:spPr>
          <a:xfrm>
            <a:off x="1666568" y="2148682"/>
            <a:ext cx="3701845" cy="3429000"/>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Is AI getting rid of jobs?</a:t>
            </a:r>
            <a:endParaRPr/>
          </a:p>
          <a:p>
            <a:pPr marL="306000" lvl="0" indent="-306000" algn="l" rtl="0">
              <a:lnSpc>
                <a:spcPct val="110000"/>
              </a:lnSpc>
              <a:spcBef>
                <a:spcPts val="1000"/>
              </a:spcBef>
              <a:spcAft>
                <a:spcPts val="0"/>
              </a:spcAft>
              <a:buSzPts val="1840"/>
              <a:buChar char="◼"/>
            </a:pPr>
            <a:r>
              <a:rPr lang="en-US" sz="2000"/>
              <a:t>Who benefits from AI?</a:t>
            </a:r>
            <a:endParaRPr/>
          </a:p>
          <a:p>
            <a:pPr marL="306000" lvl="0" indent="-189160" algn="l" rtl="0">
              <a:lnSpc>
                <a:spcPct val="110000"/>
              </a:lnSpc>
              <a:spcBef>
                <a:spcPts val="1000"/>
              </a:spcBef>
              <a:spcAft>
                <a:spcPts val="0"/>
              </a:spcAft>
              <a:buSzPts val="1840"/>
              <a:buNone/>
            </a:pP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LIABILITY/ACCOUNTABILITY</a:t>
            </a:r>
            <a:endParaRPr/>
          </a:p>
        </p:txBody>
      </p:sp>
      <p:pic>
        <p:nvPicPr>
          <p:cNvPr id="185" name="Google Shape;185;p11" descr="Who's to blame when artificial intelligence systems go wrong?"/>
          <p:cNvPicPr preferRelativeResize="0"/>
          <p:nvPr/>
        </p:nvPicPr>
        <p:blipFill rotWithShape="1">
          <a:blip r:embed="rId3">
            <a:alphaModFix/>
          </a:blip>
          <a:srcRect/>
          <a:stretch/>
        </p:blipFill>
        <p:spPr>
          <a:xfrm>
            <a:off x="4907214" y="1777978"/>
            <a:ext cx="6703594" cy="3302044"/>
          </a:xfrm>
          <a:prstGeom prst="rect">
            <a:avLst/>
          </a:prstGeom>
          <a:noFill/>
          <a:ln>
            <a:noFill/>
          </a:ln>
          <a:effectLst>
            <a:outerShdw blurRad="292100" dist="139700" dir="2700000" algn="tl" rotWithShape="0">
              <a:srgbClr val="333333">
                <a:alpha val="64705"/>
              </a:srgbClr>
            </a:outerShdw>
          </a:effectLst>
        </p:spPr>
      </p:pic>
      <p:sp>
        <p:nvSpPr>
          <p:cNvPr id="186" name="Google Shape;186;p11"/>
          <p:cNvSpPr txBox="1">
            <a:spLocks noGrp="1"/>
          </p:cNvSpPr>
          <p:nvPr>
            <p:ph type="body" idx="1"/>
          </p:nvPr>
        </p:nvSpPr>
        <p:spPr>
          <a:xfrm>
            <a:off x="609600" y="1777978"/>
            <a:ext cx="4297614" cy="3302044"/>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Who is responsible for AI when makes mistakes?</a:t>
            </a:r>
            <a:endParaRPr/>
          </a:p>
          <a:p>
            <a:pPr marL="306000" lvl="0" indent="-306000" algn="l" rtl="0">
              <a:lnSpc>
                <a:spcPct val="110000"/>
              </a:lnSpc>
              <a:spcBef>
                <a:spcPts val="1000"/>
              </a:spcBef>
              <a:spcAft>
                <a:spcPts val="0"/>
              </a:spcAft>
              <a:buSzPts val="1840"/>
              <a:buChar char="◼"/>
            </a:pPr>
            <a:r>
              <a:rPr lang="en-US" sz="2000"/>
              <a:t>Who is responsible for unintended consequences of AI?</a:t>
            </a:r>
            <a:endParaRPr/>
          </a:p>
          <a:p>
            <a:pPr marL="306000" lvl="0" indent="-306000" algn="l" rtl="0">
              <a:lnSpc>
                <a:spcPct val="110000"/>
              </a:lnSpc>
              <a:spcBef>
                <a:spcPts val="1000"/>
              </a:spcBef>
              <a:spcAft>
                <a:spcPts val="0"/>
              </a:spcAft>
              <a:buSzPts val="1840"/>
              <a:buChar char="◼"/>
            </a:pPr>
            <a:r>
              <a:rPr lang="en-US" sz="2000"/>
              <a:t>How do we fix this?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DISINFORMATION</a:t>
            </a:r>
            <a:endParaRPr/>
          </a:p>
        </p:txBody>
      </p:sp>
      <p:pic>
        <p:nvPicPr>
          <p:cNvPr id="192" name="Google Shape;192;p12" descr="This Artificial Intelligence Tool Can Identify Fake News! - Science"/>
          <p:cNvPicPr preferRelativeResize="0"/>
          <p:nvPr/>
        </p:nvPicPr>
        <p:blipFill rotWithShape="1">
          <a:blip r:embed="rId3">
            <a:alphaModFix/>
          </a:blip>
          <a:srcRect/>
          <a:stretch/>
        </p:blipFill>
        <p:spPr>
          <a:xfrm>
            <a:off x="6135688" y="1760747"/>
            <a:ext cx="5526088" cy="3336506"/>
          </a:xfrm>
          <a:prstGeom prst="rect">
            <a:avLst/>
          </a:prstGeom>
          <a:noFill/>
          <a:ln>
            <a:noFill/>
          </a:ln>
          <a:effectLst>
            <a:outerShdw blurRad="292100" dist="139700" dir="2700000" algn="tl" rotWithShape="0">
              <a:srgbClr val="333333">
                <a:alpha val="64705"/>
              </a:srgbClr>
            </a:outerShdw>
          </a:effectLst>
        </p:spPr>
      </p:pic>
      <p:sp>
        <p:nvSpPr>
          <p:cNvPr id="193" name="Google Shape;193;p12"/>
          <p:cNvSpPr txBox="1">
            <a:spLocks noGrp="1"/>
          </p:cNvSpPr>
          <p:nvPr>
            <p:ph type="body" idx="1"/>
          </p:nvPr>
        </p:nvSpPr>
        <p:spPr>
          <a:xfrm>
            <a:off x="609600" y="1760747"/>
            <a:ext cx="5526088" cy="3283201"/>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If an AI system generates deep fakes, who is liable?</a:t>
            </a:r>
            <a:endParaRPr/>
          </a:p>
          <a:p>
            <a:pPr marL="306000" lvl="0" indent="-306000" algn="l" rtl="0">
              <a:lnSpc>
                <a:spcPct val="110000"/>
              </a:lnSpc>
              <a:spcBef>
                <a:spcPts val="1000"/>
              </a:spcBef>
              <a:spcAft>
                <a:spcPts val="0"/>
              </a:spcAft>
              <a:buSzPts val="1840"/>
              <a:buChar char="◼"/>
            </a:pPr>
            <a:r>
              <a:rPr lang="en-US" sz="2000"/>
              <a:t>Should we regulate systems that can produce harmful disinformation?</a:t>
            </a:r>
            <a:endParaRPr/>
          </a:p>
          <a:p>
            <a:pPr marL="306000" lvl="0" indent="-306000" algn="l" rtl="0">
              <a:lnSpc>
                <a:spcPct val="110000"/>
              </a:lnSpc>
              <a:spcBef>
                <a:spcPts val="1000"/>
              </a:spcBef>
              <a:spcAft>
                <a:spcPts val="0"/>
              </a:spcAft>
              <a:buSzPts val="1840"/>
              <a:buChar char="◼"/>
            </a:pPr>
            <a:r>
              <a:rPr lang="en-US" sz="2000"/>
              <a:t>How?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TRANSPARENCY</a:t>
            </a:r>
            <a:endParaRPr/>
          </a:p>
        </p:txBody>
      </p:sp>
      <p:pic>
        <p:nvPicPr>
          <p:cNvPr id="199" name="Google Shape;199;p13" descr="Should AI explain itself? or should we design Explainable AI so that it  doesn't have to | by Prajwal Paudyal | Towards Data Science"/>
          <p:cNvPicPr preferRelativeResize="0"/>
          <p:nvPr/>
        </p:nvPicPr>
        <p:blipFill rotWithShape="1">
          <a:blip r:embed="rId3">
            <a:alphaModFix/>
          </a:blip>
          <a:srcRect/>
          <a:stretch/>
        </p:blipFill>
        <p:spPr>
          <a:xfrm>
            <a:off x="5057608" y="2017502"/>
            <a:ext cx="6553200" cy="3691360"/>
          </a:xfrm>
          <a:prstGeom prst="rect">
            <a:avLst/>
          </a:prstGeom>
          <a:noFill/>
          <a:ln>
            <a:noFill/>
          </a:ln>
          <a:effectLst>
            <a:outerShdw blurRad="292100" dist="139700" dir="2700000" algn="tl" rotWithShape="0">
              <a:srgbClr val="333333">
                <a:alpha val="64705"/>
              </a:srgbClr>
            </a:outerShdw>
          </a:effectLst>
        </p:spPr>
      </p:pic>
      <p:sp>
        <p:nvSpPr>
          <p:cNvPr id="200" name="Google Shape;200;p13"/>
          <p:cNvSpPr txBox="1">
            <a:spLocks noGrp="1"/>
          </p:cNvSpPr>
          <p:nvPr>
            <p:ph type="body" idx="1"/>
          </p:nvPr>
        </p:nvSpPr>
        <p:spPr>
          <a:xfrm>
            <a:off x="609600" y="2017502"/>
            <a:ext cx="4227871" cy="3691360"/>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Should we require high-impact systems to be transparent or explainable?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4"/>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DOMAIN-SPECIFIC AI VS. ARTIFICIAL GENERAL INTELLIGENCE</a:t>
            </a:r>
            <a:endParaRPr/>
          </a:p>
        </p:txBody>
      </p:sp>
      <p:pic>
        <p:nvPicPr>
          <p:cNvPr id="206" name="Google Shape;206;p14" descr="Artificial Narrow Intelligence vs Artificial General Intelligence in  Infographic"/>
          <p:cNvPicPr preferRelativeResize="0"/>
          <p:nvPr/>
        </p:nvPicPr>
        <p:blipFill rotWithShape="1">
          <a:blip r:embed="rId3">
            <a:alphaModFix/>
          </a:blip>
          <a:srcRect/>
          <a:stretch/>
        </p:blipFill>
        <p:spPr>
          <a:xfrm>
            <a:off x="5393463" y="1964295"/>
            <a:ext cx="6074022" cy="3607834"/>
          </a:xfrm>
          <a:prstGeom prst="rect">
            <a:avLst/>
          </a:prstGeom>
          <a:noFill/>
          <a:ln>
            <a:noFill/>
          </a:ln>
          <a:effectLst>
            <a:outerShdw blurRad="292100" dist="139700" dir="2700000" algn="tl" rotWithShape="0">
              <a:srgbClr val="333333">
                <a:alpha val="64705"/>
              </a:srgbClr>
            </a:outerShdw>
          </a:effectLst>
        </p:spPr>
      </p:pic>
      <p:sp>
        <p:nvSpPr>
          <p:cNvPr id="207" name="Google Shape;207;p14"/>
          <p:cNvSpPr txBox="1">
            <a:spLocks noGrp="1"/>
          </p:cNvSpPr>
          <p:nvPr>
            <p:ph type="body" idx="1"/>
          </p:nvPr>
        </p:nvSpPr>
        <p:spPr>
          <a:xfrm>
            <a:off x="609600" y="1939413"/>
            <a:ext cx="4522839" cy="3607835"/>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Is general-purpose AI too dangerous?</a:t>
            </a:r>
            <a:endParaRPr/>
          </a:p>
          <a:p>
            <a:pPr marL="306000" lvl="0" indent="-306000" algn="l" rtl="0">
              <a:lnSpc>
                <a:spcPct val="110000"/>
              </a:lnSpc>
              <a:spcBef>
                <a:spcPts val="1000"/>
              </a:spcBef>
              <a:spcAft>
                <a:spcPts val="0"/>
              </a:spcAft>
              <a:buSzPts val="1840"/>
              <a:buChar char="◼"/>
            </a:pPr>
            <a:r>
              <a:rPr lang="en-US" sz="2000"/>
              <a:t>If so, how can we stop / slow its development?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5"/>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SINGULARITY / EXISTENTIAL RISKS</a:t>
            </a:r>
            <a:endParaRPr/>
          </a:p>
        </p:txBody>
      </p:sp>
      <p:pic>
        <p:nvPicPr>
          <p:cNvPr id="214" name="Google Shape;214;p15" descr="How an Artificial Intelligence Singularity Would Collapse the World Economy"/>
          <p:cNvPicPr preferRelativeResize="0"/>
          <p:nvPr/>
        </p:nvPicPr>
        <p:blipFill rotWithShape="1">
          <a:blip r:embed="rId3">
            <a:alphaModFix/>
          </a:blip>
          <a:srcRect/>
          <a:stretch/>
        </p:blipFill>
        <p:spPr>
          <a:xfrm>
            <a:off x="5420852" y="1865671"/>
            <a:ext cx="6161548" cy="3465871"/>
          </a:xfrm>
          <a:prstGeom prst="rect">
            <a:avLst/>
          </a:prstGeom>
          <a:noFill/>
          <a:ln>
            <a:noFill/>
          </a:ln>
          <a:effectLst>
            <a:outerShdw blurRad="292100" dist="139700" dir="2700000" algn="tl" rotWithShape="0">
              <a:srgbClr val="333333">
                <a:alpha val="64705"/>
              </a:srgbClr>
            </a:outerShdw>
          </a:effectLst>
        </p:spPr>
      </p:pic>
      <p:sp>
        <p:nvSpPr>
          <p:cNvPr id="215" name="Google Shape;215;p15"/>
          <p:cNvSpPr txBox="1">
            <a:spLocks noGrp="1"/>
          </p:cNvSpPr>
          <p:nvPr>
            <p:ph type="body" idx="1"/>
          </p:nvPr>
        </p:nvSpPr>
        <p:spPr>
          <a:xfrm>
            <a:off x="609600" y="1887794"/>
            <a:ext cx="4724400" cy="3465871"/>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Is superintelligence a realistic possibility?</a:t>
            </a:r>
            <a:endParaRPr/>
          </a:p>
          <a:p>
            <a:pPr marL="306000" lvl="0" indent="-306000" algn="l" rtl="0">
              <a:lnSpc>
                <a:spcPct val="110000"/>
              </a:lnSpc>
              <a:spcBef>
                <a:spcPts val="1000"/>
              </a:spcBef>
              <a:spcAft>
                <a:spcPts val="0"/>
              </a:spcAft>
              <a:buSzPts val="1840"/>
              <a:buChar char="◼"/>
            </a:pPr>
            <a:r>
              <a:rPr lang="en-US" sz="2000"/>
              <a:t>If so, how can we ensure its values are aligned with ours?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219"/>
        <p:cNvGrpSpPr/>
        <p:nvPr/>
      </p:nvGrpSpPr>
      <p:grpSpPr>
        <a:xfrm>
          <a:off x="0" y="0"/>
          <a:ext cx="0" cy="0"/>
          <a:chOff x="0" y="0"/>
          <a:chExt cx="0" cy="0"/>
        </a:xfrm>
      </p:grpSpPr>
      <p:sp>
        <p:nvSpPr>
          <p:cNvPr id="220" name="Google Shape;220;p16"/>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AI RIGHTS?</a:t>
            </a:r>
            <a:endParaRPr/>
          </a:p>
        </p:txBody>
      </p:sp>
      <p:pic>
        <p:nvPicPr>
          <p:cNvPr id="221" name="Google Shape;221;p16" descr="Do robots deserve rights? - kMITRA"/>
          <p:cNvPicPr preferRelativeResize="0"/>
          <p:nvPr/>
        </p:nvPicPr>
        <p:blipFill rotWithShape="1">
          <a:blip r:embed="rId3">
            <a:alphaModFix/>
          </a:blip>
          <a:srcRect/>
          <a:stretch/>
        </p:blipFill>
        <p:spPr>
          <a:xfrm>
            <a:off x="6096000" y="731836"/>
            <a:ext cx="3949367" cy="5608569"/>
          </a:xfrm>
          <a:prstGeom prst="rect">
            <a:avLst/>
          </a:prstGeom>
          <a:noFill/>
          <a:ln>
            <a:noFill/>
          </a:ln>
          <a:effectLst>
            <a:outerShdw blurRad="292100" dist="139700" dir="2700000" algn="tl" rotWithShape="0">
              <a:srgbClr val="333333">
                <a:alpha val="64705"/>
              </a:srgbClr>
            </a:outerShdw>
          </a:effectLst>
        </p:spPr>
      </p:pic>
      <p:sp>
        <p:nvSpPr>
          <p:cNvPr id="222" name="Google Shape;222;p16"/>
          <p:cNvSpPr txBox="1">
            <a:spLocks noGrp="1"/>
          </p:cNvSpPr>
          <p:nvPr>
            <p:ph type="body" idx="1"/>
          </p:nvPr>
        </p:nvSpPr>
        <p:spPr>
          <a:xfrm>
            <a:off x="609600" y="1600201"/>
            <a:ext cx="5486400" cy="4525963"/>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Can an AI suffer?</a:t>
            </a:r>
            <a:endParaRPr/>
          </a:p>
          <a:p>
            <a:pPr marL="306000" lvl="0" indent="-306000" algn="l" rtl="0">
              <a:lnSpc>
                <a:spcPct val="110000"/>
              </a:lnSpc>
              <a:spcBef>
                <a:spcPts val="1000"/>
              </a:spcBef>
              <a:spcAft>
                <a:spcPts val="0"/>
              </a:spcAft>
              <a:buSzPts val="1840"/>
              <a:buChar char="◼"/>
            </a:pPr>
            <a:r>
              <a:rPr lang="en-US" sz="2000"/>
              <a:t>When can we / should we turn it off?</a:t>
            </a:r>
            <a:endParaRPr/>
          </a:p>
          <a:p>
            <a:pPr marL="306000" lvl="0" indent="-306000" algn="l" rtl="0">
              <a:lnSpc>
                <a:spcPct val="110000"/>
              </a:lnSpc>
              <a:spcBef>
                <a:spcPts val="1000"/>
              </a:spcBef>
              <a:spcAft>
                <a:spcPts val="0"/>
              </a:spcAft>
              <a:buSzPts val="1840"/>
              <a:buChar char="◼"/>
            </a:pPr>
            <a:r>
              <a:rPr lang="en-US" sz="2000"/>
              <a:t>What rights should an AI be afforded?</a:t>
            </a:r>
            <a:endParaRPr/>
          </a:p>
          <a:p>
            <a:pPr marL="306000" lvl="0" indent="-189160" algn="l" rtl="0">
              <a:lnSpc>
                <a:spcPct val="110000"/>
              </a:lnSpc>
              <a:spcBef>
                <a:spcPts val="1000"/>
              </a:spcBef>
              <a:spcAft>
                <a:spcPts val="0"/>
              </a:spcAft>
              <a:buSzPts val="1840"/>
              <a:buNone/>
            </a:pP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226"/>
        <p:cNvGrpSpPr/>
        <p:nvPr/>
      </p:nvGrpSpPr>
      <p:grpSpPr>
        <a:xfrm>
          <a:off x="0" y="0"/>
          <a:ext cx="0" cy="0"/>
          <a:chOff x="0" y="0"/>
          <a:chExt cx="0" cy="0"/>
        </a:xfrm>
      </p:grpSpPr>
      <p:sp>
        <p:nvSpPr>
          <p:cNvPr id="227" name="Google Shape;227;p17"/>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UNINTENDED CONSEQUENCES</a:t>
            </a:r>
            <a:endParaRPr/>
          </a:p>
        </p:txBody>
      </p:sp>
      <p:pic>
        <p:nvPicPr>
          <p:cNvPr id="228" name="Google Shape;228;p17"/>
          <p:cNvPicPr preferRelativeResize="0"/>
          <p:nvPr/>
        </p:nvPicPr>
        <p:blipFill rotWithShape="1">
          <a:blip r:embed="rId3">
            <a:alphaModFix/>
          </a:blip>
          <a:srcRect/>
          <a:stretch/>
        </p:blipFill>
        <p:spPr>
          <a:xfrm>
            <a:off x="4424516" y="1652400"/>
            <a:ext cx="7315199" cy="4113636"/>
          </a:xfrm>
          <a:prstGeom prst="rect">
            <a:avLst/>
          </a:prstGeom>
          <a:noFill/>
          <a:ln>
            <a:noFill/>
          </a:ln>
          <a:effectLst>
            <a:outerShdw blurRad="292100" dist="139700" dir="2700000" algn="tl" rotWithShape="0">
              <a:srgbClr val="333333">
                <a:alpha val="64705"/>
              </a:srgbClr>
            </a:outerShdw>
          </a:effectLst>
        </p:spPr>
      </p:pic>
      <p:sp>
        <p:nvSpPr>
          <p:cNvPr id="229" name="Google Shape;229;p17"/>
          <p:cNvSpPr txBox="1">
            <a:spLocks noGrp="1"/>
          </p:cNvSpPr>
          <p:nvPr>
            <p:ph type="body" idx="1"/>
          </p:nvPr>
        </p:nvSpPr>
        <p:spPr>
          <a:xfrm>
            <a:off x="609600" y="1652401"/>
            <a:ext cx="3814916" cy="4113636"/>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Will we stop talking to each other?</a:t>
            </a:r>
            <a:endParaRPr/>
          </a:p>
          <a:p>
            <a:pPr marL="306000" lvl="0" indent="-306000" algn="l" rtl="0">
              <a:lnSpc>
                <a:spcPct val="110000"/>
              </a:lnSpc>
              <a:spcBef>
                <a:spcPts val="1000"/>
              </a:spcBef>
              <a:spcAft>
                <a:spcPts val="0"/>
              </a:spcAft>
              <a:buSzPts val="1840"/>
              <a:buChar char="◼"/>
            </a:pPr>
            <a:r>
              <a:rPr lang="en-US" sz="2000"/>
              <a:t>Who is liable?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Google Shape;234;p18"/>
          <p:cNvSpPr/>
          <p:nvPr/>
        </p:nvSpPr>
        <p:spPr>
          <a:xfrm>
            <a:off x="0" y="0"/>
            <a:ext cx="12192000" cy="152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35" name="Google Shape;235;p18"/>
          <p:cNvPicPr preferRelativeResize="0"/>
          <p:nvPr/>
        </p:nvPicPr>
        <p:blipFill rotWithShape="1">
          <a:blip r:embed="rId3">
            <a:alphaModFix/>
          </a:blip>
          <a:srcRect/>
          <a:stretch/>
        </p:blipFill>
        <p:spPr>
          <a:xfrm>
            <a:off x="2921000" y="1225550"/>
            <a:ext cx="6350000" cy="4406900"/>
          </a:xfrm>
          <a:prstGeom prst="rect">
            <a:avLst/>
          </a:prstGeom>
          <a:noFill/>
          <a:ln>
            <a:noFill/>
          </a:ln>
        </p:spPr>
      </p:pic>
    </p:spTree>
  </p:cSld>
  <p:clrMapOvr>
    <a:masterClrMapping/>
  </p:clrMapOvr>
</p:sld>
</file>

<file path=ppt/theme/theme1.xml><?xml version="1.0" encoding="utf-8"?>
<a:theme xmlns:a="http://schemas.openxmlformats.org/drawingml/2006/main"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1228</Words>
  <Application>Microsoft Office PowerPoint</Application>
  <PresentationFormat>Widescreen</PresentationFormat>
  <Paragraphs>128</Paragraphs>
  <Slides>15</Slides>
  <Notes>15</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Gill Sans</vt:lpstr>
      <vt:lpstr>Calibri</vt:lpstr>
      <vt:lpstr>Franklin Gothic</vt:lpstr>
      <vt:lpstr>Arial</vt:lpstr>
      <vt:lpstr>Libre Franklin</vt:lpstr>
      <vt:lpstr>Noto Sans Symbols</vt:lpstr>
      <vt:lpstr>DividendVTI</vt:lpstr>
      <vt:lpstr>DividendVTI</vt:lpstr>
      <vt:lpstr>ETHICS AND DATA PRIVACY ISSUES FOR DATA SCIENCE</vt:lpstr>
      <vt:lpstr>AGENDA</vt:lpstr>
      <vt:lpstr>FORM BREAKOUT GROUPS AND PICK </vt:lpstr>
      <vt:lpstr>BIAS</vt:lpstr>
      <vt:lpstr>PRIVACY AND SURVEILLANCE</vt:lpstr>
      <vt:lpstr>SMALL SAMPLE OF RECENT DATA PRIVACY FINES</vt:lpstr>
      <vt:lpstr>JOB DISPLACEMENT</vt:lpstr>
      <vt:lpstr>LIABILITY/ACCOUNTABILITY</vt:lpstr>
      <vt:lpstr>DISINFORMATION</vt:lpstr>
      <vt:lpstr>TRANSPARENCY</vt:lpstr>
      <vt:lpstr>DOMAIN-SPECIFIC AI VS. ARTIFICIAL GENERAL INTELLIGENCE</vt:lpstr>
      <vt:lpstr>SINGULARITY / EXISTENTIAL RISKS</vt:lpstr>
      <vt:lpstr>AI RIGHTS?</vt:lpstr>
      <vt:lpstr>UNINTENDED CONSEQUENCES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Scott Toborg</dc:creator>
  <cp:lastModifiedBy>Jake Rhodes</cp:lastModifiedBy>
  <cp:revision>1</cp:revision>
  <dcterms:created xsi:type="dcterms:W3CDTF">2023-08-21T23:41:59Z</dcterms:created>
  <dcterms:modified xsi:type="dcterms:W3CDTF">2025-12-08T17:17:12Z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